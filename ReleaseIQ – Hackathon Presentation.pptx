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body">
    <p:bg>
      <p:bgPr>
        <a:solidFill>
          <a:srgbClr val="F5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/>
          <p:nvPr>
            <p:ph type="title"/>
          </p:nvPr>
        </p:nvSpPr>
        <p:spPr>
          <a:xfrm>
            <a:off x="812800" y="812800"/>
            <a:ext cx="105664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15000"/>
              </a:lnSpc>
              <a:buNone/>
              <a:defRPr lang="en-US" sz="3000" dirty="0">
                <a:solidFill>
                  <a:srgbClr val="0F2A4A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lnSpc>
                <a:spcPct val="115000"/>
              </a:lnSpc>
              <a:buNone/>
            </a:pPr>
            <a:endParaRPr lang="en-US" sz="3000" dirty="0"/>
          </a:p>
        </p:txBody>
      </p:sp>
      <p:sp>
        <p:nvSpPr>
          <p:cNvPr id="3" name="Text Placeholder 2"/>
          <p:cNvSpPr/>
          <p:nvPr>
            <p:ph idx="101" type="body"/>
          </p:nvPr>
        </p:nvSpPr>
        <p:spPr>
          <a:xfrm>
            <a:off x="812800" y="1536700"/>
            <a:ext cx="10566400" cy="450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40000"/>
              </a:lnSpc>
              <a:buNone/>
              <a:defRPr lang="en-US" sz="1600" dirty="0">
                <a:solidFill>
                  <a:srgbClr val="0F2A4A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/>
          <p:nvPr>
            <p:ph type="title"/>
          </p:nvPr>
        </p:nvSpPr>
        <p:spPr>
          <a:xfrm>
            <a:off x="812800" y="812800"/>
            <a:ext cx="105664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15000"/>
              </a:lnSpc>
              <a:buNone/>
              <a:defRPr lang="en-US" sz="3000" dirty="0">
                <a:solidFill>
                  <a:srgbClr val="0F2A4A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lnSpc>
                <a:spcPct val="115000"/>
              </a:lnSpc>
              <a:buNone/>
            </a:pPr>
            <a:endParaRPr lang="en-US" sz="3000" dirty="0"/>
          </a:p>
        </p:txBody>
      </p:sp>
      <p:sp>
        <p:nvSpPr>
          <p:cNvPr id="3" name="Text Placeholder 2"/>
          <p:cNvSpPr/>
          <p:nvPr>
            <p:ph idx="101" type="body"/>
          </p:nvPr>
        </p:nvSpPr>
        <p:spPr>
          <a:xfrm>
            <a:off x="812800" y="1536700"/>
            <a:ext cx="10566400" cy="450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40000"/>
              </a:lnSpc>
              <a:buNone/>
              <a:defRPr lang="en-US" sz="1600" dirty="0">
                <a:solidFill>
                  <a:srgbClr val="0F2A4A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2173764"/>
            <a:ext cx="10883392" cy="309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F2A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Verizon Hackathon 2026</a:t>
            </a:r>
            <a:endParaRPr lang="en-US" sz="16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2673350"/>
            <a:ext cx="10883392" cy="985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7560"/>
              </a:lnSpc>
              <a:buNone/>
            </a:pPr>
            <a:r>
              <a:rPr lang="en-US" sz="7200" b="1" i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ReleaseIQ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812800" y="3835400"/>
            <a:ext cx="99060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2400" dirty="0">
                <a:solidFill>
                  <a:srgbClr val="CFE0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AI-powered release knowledge and troubleshooting assistant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812800" y="4419600"/>
            <a:ext cx="10883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9FB3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Jira tickets + source code, one trustworthy answer · [Mad Kings] · [Sujal Mangesh Limje and Aman Mathur]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800" y="609600"/>
            <a:ext cx="10883392" cy="472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0F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two-parted problem and our solution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812800" y="1259840"/>
            <a:ext cx="5181600" cy="469900"/>
          </a:xfrm>
          <a:prstGeom prst="roundRect">
            <a:avLst>
              <a:gd name="adj" fmla="val 16216"/>
            </a:avLst>
          </a:prstGeom>
          <a:solidFill>
            <a:srgbClr val="0F2A4A"/>
          </a:solidFill>
          <a:ln/>
        </p:spPr>
        <p:txBody>
          <a:bodyPr wrap="square" lIns="155482" tIns="79282" rIns="10702" bIns="53882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1 · Customers and end users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815975" y="1821815"/>
            <a:ext cx="5175250" cy="1323340"/>
          </a:xfrm>
          <a:prstGeom prst="roundRect">
            <a:avLst>
              <a:gd name="adj" fmla="val 7438"/>
            </a:avLst>
          </a:prstGeom>
          <a:solidFill>
            <a:srgbClr val="FFFFFF"/>
          </a:solidFill>
          <a:ln w="6350">
            <a:solidFill>
              <a:srgbClr val="DFE3E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21080" y="2001520"/>
            <a:ext cx="4907991" cy="269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0F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021080" y="2321560"/>
            <a:ext cx="4907991" cy="669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90"/>
              </a:lnSpc>
              <a:buNone/>
            </a:pPr>
            <a:r>
              <a:rPr lang="en-US" sz="1300" dirty="0">
                <a:solidFill>
                  <a:srgbClr val="5862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Frequent releases (e.g. FUZE) leave users unsure what changed. Confused by new features, they raise AYS tickets, flooding the queue during every release.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35076" y="3237230"/>
            <a:ext cx="53370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600" dirty="0">
                <a:solidFill>
                  <a:srgbClr val="0E9F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▼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815975" y="3532505"/>
            <a:ext cx="5175250" cy="1108710"/>
          </a:xfrm>
          <a:prstGeom prst="roundRect">
            <a:avLst>
              <a:gd name="adj" fmla="val 8877"/>
            </a:avLst>
          </a:prstGeom>
          <a:solidFill>
            <a:srgbClr val="FFFFFF"/>
          </a:solidFill>
          <a:ln w="6350">
            <a:solidFill>
              <a:srgbClr val="DFE3E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21080" y="3712210"/>
            <a:ext cx="4907991" cy="269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0F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ReleaseIQ solution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021080" y="4032250"/>
            <a:ext cx="4907991" cy="454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90"/>
              </a:lnSpc>
              <a:buNone/>
            </a:pPr>
            <a:r>
              <a:rPr lang="en-US" sz="1300" dirty="0">
                <a:solidFill>
                  <a:srgbClr val="5862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Users get plain-language answers from Jira and code, so they self-serve and the ticket is never raised.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197600" y="1259840"/>
            <a:ext cx="5181600" cy="469900"/>
          </a:xfrm>
          <a:prstGeom prst="roundRect">
            <a:avLst>
              <a:gd name="adj" fmla="val 16216"/>
            </a:avLst>
          </a:prstGeom>
          <a:solidFill>
            <a:srgbClr val="0F2A4A"/>
          </a:solidFill>
          <a:ln/>
        </p:spPr>
        <p:txBody>
          <a:bodyPr wrap="square" lIns="155482" tIns="79282" rIns="10702" bIns="53882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2 · Tier 2 support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6200775" y="1821815"/>
            <a:ext cx="5175250" cy="1108710"/>
          </a:xfrm>
          <a:prstGeom prst="roundRect">
            <a:avLst>
              <a:gd name="adj" fmla="val 8877"/>
            </a:avLst>
          </a:prstGeom>
          <a:solidFill>
            <a:srgbClr val="FFFFFF"/>
          </a:solidFill>
          <a:ln w="6350">
            <a:solidFill>
              <a:srgbClr val="DFE3E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5880" y="2001520"/>
            <a:ext cx="4907991" cy="269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0F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405880" y="2321560"/>
            <a:ext cx="4907991" cy="454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90"/>
              </a:lnSpc>
              <a:buNone/>
            </a:pPr>
            <a:r>
              <a:rPr lang="en-US" sz="1300" dirty="0">
                <a:solidFill>
                  <a:srgbClr val="5862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 understand an issue, support reads the documentation or scavenges the whole codebase, which can take hours per ticket.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119876" y="3022600"/>
            <a:ext cx="53370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600" dirty="0">
                <a:solidFill>
                  <a:srgbClr val="0E9F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▼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200775" y="3317875"/>
            <a:ext cx="5175250" cy="1108710"/>
          </a:xfrm>
          <a:prstGeom prst="roundRect">
            <a:avLst>
              <a:gd name="adj" fmla="val 8877"/>
            </a:avLst>
          </a:prstGeom>
          <a:solidFill>
            <a:srgbClr val="FFFFFF"/>
          </a:solidFill>
          <a:ln w="6350">
            <a:solidFill>
              <a:srgbClr val="DFE3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05880" y="3497580"/>
            <a:ext cx="4907991" cy="269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0F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ReleaseIQ solution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405880" y="3817620"/>
            <a:ext cx="4907991" cy="454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90"/>
              </a:lnSpc>
              <a:buNone/>
            </a:pPr>
            <a:r>
              <a:rPr lang="en-US" sz="1300" dirty="0">
                <a:solidFill>
                  <a:srgbClr val="5862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ReleaseIQ pinpoints the relevant ticket and code, flags doc-vs-code gaps and drafts a summary, cutting resolution time.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0058400" y="6238241"/>
            <a:ext cx="13208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862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800" y="812800"/>
            <a:ext cx="10883392" cy="472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0F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features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815975" y="1517016"/>
            <a:ext cx="3414157" cy="1159510"/>
          </a:xfrm>
          <a:prstGeom prst="roundRect">
            <a:avLst>
              <a:gd name="adj" fmla="val 8488"/>
            </a:avLst>
          </a:prstGeom>
          <a:solidFill>
            <a:srgbClr val="FFFFFF"/>
          </a:solidFill>
          <a:ln w="6350">
            <a:solidFill>
              <a:srgbClr val="DFE3E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21080" y="1722120"/>
            <a:ext cx="3094065" cy="269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0F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Query understanding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021080" y="2042161"/>
            <a:ext cx="3094065" cy="454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90"/>
              </a:lnSpc>
              <a:buNone/>
            </a:pPr>
            <a:r>
              <a:rPr lang="en-US" sz="1300" dirty="0">
                <a:solidFill>
                  <a:srgbClr val="5862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 detects intent and writes 3 search rewrites.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388882" y="1517016"/>
            <a:ext cx="3414157" cy="1159510"/>
          </a:xfrm>
          <a:prstGeom prst="roundRect">
            <a:avLst>
              <a:gd name="adj" fmla="val 8488"/>
            </a:avLst>
          </a:prstGeom>
          <a:solidFill>
            <a:srgbClr val="FFFFFF"/>
          </a:solidFill>
          <a:ln w="6350">
            <a:solidFill>
              <a:srgbClr val="DFE3E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93987" y="1722120"/>
            <a:ext cx="3094065" cy="269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0F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Hybrid search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593987" y="2042161"/>
            <a:ext cx="3094065" cy="454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90"/>
              </a:lnSpc>
              <a:buNone/>
            </a:pPr>
            <a:r>
              <a:rPr lang="en-US" sz="1300" dirty="0">
                <a:solidFill>
                  <a:srgbClr val="5862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Vector and keyword search fused with RRF.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7961789" y="1517016"/>
            <a:ext cx="3414157" cy="1159510"/>
          </a:xfrm>
          <a:prstGeom prst="roundRect">
            <a:avLst>
              <a:gd name="adj" fmla="val 8488"/>
            </a:avLst>
          </a:prstGeom>
          <a:solidFill>
            <a:srgbClr val="FFFFFF"/>
          </a:solidFill>
          <a:ln w="6350">
            <a:solidFill>
              <a:srgbClr val="DFE3E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166894" y="1722120"/>
            <a:ext cx="3094065" cy="269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0F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Cascade routing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8166894" y="2042161"/>
            <a:ext cx="3094065" cy="454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90"/>
              </a:lnSpc>
              <a:buNone/>
            </a:pPr>
            <a:r>
              <a:rPr lang="en-US" sz="1300" dirty="0">
                <a:solidFill>
                  <a:srgbClr val="5862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Jira first, then code, then an honest fallback.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815975" y="2835275"/>
            <a:ext cx="3414157" cy="1374140"/>
          </a:xfrm>
          <a:prstGeom prst="roundRect">
            <a:avLst>
              <a:gd name="adj" fmla="val 7163"/>
            </a:avLst>
          </a:prstGeom>
          <a:solidFill>
            <a:srgbClr val="FFFFFF"/>
          </a:solidFill>
          <a:ln w="6350">
            <a:solidFill>
              <a:srgbClr val="DFE3E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21080" y="3040380"/>
            <a:ext cx="3094065" cy="269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0F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Mismatch detection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021080" y="3360420"/>
            <a:ext cx="3094065" cy="454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90"/>
              </a:lnSpc>
              <a:buNone/>
            </a:pPr>
            <a:r>
              <a:rPr lang="en-US" sz="1300" dirty="0">
                <a:solidFill>
                  <a:srgbClr val="5862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Cross-checks Jira facts against code facts.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388882" y="2835275"/>
            <a:ext cx="3414157" cy="1374140"/>
          </a:xfrm>
          <a:prstGeom prst="roundRect">
            <a:avLst>
              <a:gd name="adj" fmla="val 7163"/>
            </a:avLst>
          </a:prstGeom>
          <a:solidFill>
            <a:srgbClr val="FFFFFF"/>
          </a:solidFill>
          <a:ln w="6350">
            <a:solidFill>
              <a:srgbClr val="DFE3E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93987" y="3040380"/>
            <a:ext cx="3094065" cy="269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0F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AYS ticket fallback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4593987" y="3360420"/>
            <a:ext cx="3094065" cy="669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90"/>
              </a:lnSpc>
              <a:buNone/>
            </a:pPr>
            <a:r>
              <a:rPr lang="en-US" sz="1300" dirty="0">
                <a:solidFill>
                  <a:srgbClr val="5862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 of scope or unknown? It asks the user to raise an AYS ticket, with a ready summary.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7961789" y="2835275"/>
            <a:ext cx="3414157" cy="1374140"/>
          </a:xfrm>
          <a:prstGeom prst="roundRect">
            <a:avLst>
              <a:gd name="adj" fmla="val 7163"/>
            </a:avLst>
          </a:prstGeom>
          <a:solidFill>
            <a:srgbClr val="FFFFFF"/>
          </a:solidFill>
          <a:ln w="6350">
            <a:solidFill>
              <a:srgbClr val="DFE3E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166894" y="3040380"/>
            <a:ext cx="3094065" cy="269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0F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Traceable sources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8166894" y="3360420"/>
            <a:ext cx="3094065" cy="454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90"/>
              </a:lnSpc>
              <a:buNone/>
            </a:pPr>
            <a:r>
              <a:rPr lang="en-US" sz="1300" dirty="0">
                <a:solidFill>
                  <a:srgbClr val="5862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Ticket IDs, fix versions, file paths and lines.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815975" y="4368166"/>
            <a:ext cx="3414157" cy="1159510"/>
          </a:xfrm>
          <a:prstGeom prst="roundRect">
            <a:avLst>
              <a:gd name="adj" fmla="val 8488"/>
            </a:avLst>
          </a:prstGeom>
          <a:solidFill>
            <a:srgbClr val="FFFFFF"/>
          </a:solidFill>
          <a:ln w="6350">
            <a:solidFill>
              <a:srgbClr val="DFE3E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021080" y="4573270"/>
            <a:ext cx="3094065" cy="269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0F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Guardrails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021080" y="4893311"/>
            <a:ext cx="3094065" cy="454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90"/>
              </a:lnSpc>
              <a:buNone/>
            </a:pPr>
            <a:r>
              <a:rPr lang="en-US" sz="1300" dirty="0">
                <a:solidFill>
                  <a:srgbClr val="5862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Prompt-injection screen, secret redaction, read-only.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4388882" y="4368166"/>
            <a:ext cx="3414157" cy="1159510"/>
          </a:xfrm>
          <a:prstGeom prst="roundRect">
            <a:avLst>
              <a:gd name="adj" fmla="val 8488"/>
            </a:avLst>
          </a:prstGeom>
          <a:solidFill>
            <a:srgbClr val="FFFFFF"/>
          </a:solidFill>
          <a:ln w="6350">
            <a:solidFill>
              <a:srgbClr val="DFE3E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93987" y="4573270"/>
            <a:ext cx="3094065" cy="269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0F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 and cheap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4593987" y="4893311"/>
            <a:ext cx="3094065" cy="454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90"/>
              </a:lnSpc>
              <a:buNone/>
            </a:pPr>
            <a:r>
              <a:rPr lang="en-US" sz="1300" dirty="0">
                <a:solidFill>
                  <a:srgbClr val="5862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Fuzzy query cache and local embeddings.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10058400" y="6238241"/>
            <a:ext cx="13208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862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800" y="812800"/>
            <a:ext cx="10883392" cy="472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0F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sources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815975" y="1517016"/>
            <a:ext cx="5175250" cy="1588770"/>
          </a:xfrm>
          <a:prstGeom prst="roundRect">
            <a:avLst>
              <a:gd name="adj" fmla="val 6195"/>
            </a:avLst>
          </a:prstGeom>
          <a:solidFill>
            <a:srgbClr val="FFFFFF"/>
          </a:solidFill>
          <a:ln w="6350">
            <a:solidFill>
              <a:srgbClr val="DFE3E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21080" y="1722120"/>
            <a:ext cx="4907991" cy="269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0F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Jira ticket dump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021080" y="2042161"/>
            <a:ext cx="4907991" cy="883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90"/>
              </a:lnSpc>
              <a:buNone/>
            </a:pPr>
            <a:r>
              <a:rPr lang="en-US" sz="1300" dirty="0">
                <a:solidFill>
                  <a:srgbClr val="5862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76 NimbusPay (NPAY) tickets: stories, bugs and tasks. Fields: key, type, status, fix version, components, description, acceptance criteria, comments, known issues and workarounds, user impact. Chunked per section so answers cite exact parts.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200775" y="1517016"/>
            <a:ext cx="5175250" cy="1588770"/>
          </a:xfrm>
          <a:prstGeom prst="roundRect">
            <a:avLst>
              <a:gd name="adj" fmla="val 6195"/>
            </a:avLst>
          </a:prstGeom>
          <a:solidFill>
            <a:srgbClr val="FFFFFF"/>
          </a:solidFill>
          <a:ln w="6350">
            <a:solidFill>
              <a:srgbClr val="DFE3E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5880" y="1722120"/>
            <a:ext cx="4907991" cy="269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0F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source code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405880" y="2042161"/>
            <a:ext cx="4907991" cy="883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90"/>
              </a:lnSpc>
              <a:buNone/>
            </a:pPr>
            <a:r>
              <a:rPr lang="en-US" sz="1300" dirty="0">
                <a:solidFill>
                  <a:srgbClr val="5862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NimbusPay sample app in Python and YAML: approvals, expenses, reports, notifications, config and feature flags. Chunked per function or class with line numbers, plus a plain-English digest per file. Secrets are redacted.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12800" y="3362961"/>
            <a:ext cx="10566400" cy="920750"/>
          </a:xfrm>
          <a:prstGeom prst="roundRect">
            <a:avLst>
              <a:gd name="adj" fmla="val 11034"/>
            </a:avLst>
          </a:prstGeom>
          <a:solidFill>
            <a:srgbClr val="0F2A4A"/>
          </a:solidFill>
          <a:ln/>
        </p:spPr>
        <p:txBody>
          <a:bodyPr wrap="square" lIns="224242" tIns="173442" rIns="0" bIns="148042" rtlCol="0" anchor="t">
            <a:normAutofit/>
          </a:bodyPr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Built-in discrepancies to test with:</a:t>
            </a: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upload limit (Jira 50 MB vs code 10 MB), Excel export hidden behind the </a:t>
            </a:r>
            <a:r>
              <a:rPr lang="en-US" sz="1500" dirty="0">
                <a:solidFill>
                  <a:srgbClr val="F2A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reports_excel</a:t>
            </a: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flag, undocumented duplicate-receipt check, token rule added in PR #45.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0058400" y="6238239"/>
            <a:ext cx="13208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862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800" y="711200"/>
            <a:ext cx="10883392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300"/>
              </a:lnSpc>
              <a:buNone/>
            </a:pPr>
            <a:r>
              <a:rPr lang="en-US" sz="3000" b="1" i="0" dirty="0">
                <a:solidFill>
                  <a:srgbClr val="0F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sample app: NimbusPay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815975" y="1311275"/>
            <a:ext cx="5200650" cy="1338580"/>
          </a:xfrm>
          <a:prstGeom prst="roundRect">
            <a:avLst>
              <a:gd name="adj" fmla="val 7353"/>
            </a:avLst>
          </a:prstGeom>
          <a:solidFill>
            <a:srgbClr val="FFFFFF"/>
          </a:solidFill>
          <a:ln w="6350">
            <a:solidFill>
              <a:srgbClr val="DFE3E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21080" y="1490982"/>
            <a:ext cx="4934153" cy="284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40"/>
              </a:lnSpc>
              <a:buNone/>
            </a:pPr>
            <a:r>
              <a:rPr lang="en-US" sz="1700" b="1" dirty="0">
                <a:solidFill>
                  <a:srgbClr val="0F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it is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1021080" y="1826261"/>
            <a:ext cx="4934153" cy="669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90"/>
              </a:lnSpc>
              <a:buNone/>
            </a:pPr>
            <a:r>
              <a:rPr lang="en-US" sz="1300" dirty="0">
                <a:solidFill>
                  <a:srgbClr val="5862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mock enterprise expense portal. Employees submit expenses and receipts, managers approve them, finance exports reports. Also called NextPay, Jira key NPAY.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175375" y="1311275"/>
            <a:ext cx="5200650" cy="1338580"/>
          </a:xfrm>
          <a:prstGeom prst="roundRect">
            <a:avLst>
              <a:gd name="adj" fmla="val 7353"/>
            </a:avLst>
          </a:prstGeom>
          <a:solidFill>
            <a:srgbClr val="FFFFFF"/>
          </a:solidFill>
          <a:ln w="6350">
            <a:solidFill>
              <a:srgbClr val="DFE3E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380480" y="1490982"/>
            <a:ext cx="4934153" cy="284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40"/>
              </a:lnSpc>
              <a:buNone/>
            </a:pPr>
            <a:r>
              <a:rPr lang="en-US" sz="1700" b="1" dirty="0">
                <a:solidFill>
                  <a:srgbClr val="0F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we built it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6380480" y="1826261"/>
            <a:ext cx="4934153" cy="669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90"/>
              </a:lnSpc>
              <a:buNone/>
            </a:pPr>
            <a:r>
              <a:rPr lang="en-US" sz="1300" dirty="0">
                <a:solidFill>
                  <a:srgbClr val="5862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ReleaseIQ needs a realistic product to learn from. NimbusPay is the ground-truth codebase, with Jira history that sometimes contradicts the code.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12800" y="2830832"/>
            <a:ext cx="10566400" cy="800100"/>
          </a:xfrm>
          <a:prstGeom prst="roundRect">
            <a:avLst>
              <a:gd name="adj" fmla="val 12698"/>
            </a:avLst>
          </a:prstGeom>
          <a:solidFill>
            <a:srgbClr val="0F2A4A"/>
          </a:solidFill>
          <a:ln/>
        </p:spPr>
        <p:txBody>
          <a:bodyPr wrap="square" lIns="198842" tIns="122642" rIns="0" bIns="97242" rtlCol="0" anchor="t">
            <a:normAutofit/>
          </a:bodyPr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Name nod:</a:t>
            </a: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Nimbus is a </a:t>
            </a:r>
            <a:r>
              <a:rPr lang="en-US" sz="1500" dirty="0">
                <a:solidFill>
                  <a:srgbClr val="F2A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Rick and Morty</a:t>
            </a: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reference, after Mr. Nimbus, Rick’s ocean-dwelling nemesis. He controls the police 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815975" y="3811907"/>
            <a:ext cx="2520950" cy="920750"/>
          </a:xfrm>
          <a:prstGeom prst="roundRect">
            <a:avLst>
              <a:gd name="adj" fmla="val 10690"/>
            </a:avLst>
          </a:prstGeom>
          <a:solidFill>
            <a:srgbClr val="FFFFFF"/>
          </a:solidFill>
          <a:ln w="6350">
            <a:solidFill>
              <a:srgbClr val="DFE3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95680" y="3966211"/>
            <a:ext cx="2226386" cy="3987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940"/>
              </a:lnSpc>
              <a:buNone/>
            </a:pPr>
            <a:r>
              <a:rPr lang="en-US" sz="2800" b="1" dirty="0">
                <a:solidFill>
                  <a:srgbClr val="0E9F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76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995680" y="4364989"/>
            <a:ext cx="2226386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862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Jira tickets (NPAY)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495675" y="3811907"/>
            <a:ext cx="2520950" cy="920750"/>
          </a:xfrm>
          <a:prstGeom prst="roundRect">
            <a:avLst>
              <a:gd name="adj" fmla="val 10690"/>
            </a:avLst>
          </a:prstGeom>
          <a:solidFill>
            <a:srgbClr val="FFFFFF"/>
          </a:solidFill>
          <a:ln w="6350">
            <a:solidFill>
              <a:srgbClr val="DFE3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75380" y="3966211"/>
            <a:ext cx="2226386" cy="3987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940"/>
              </a:lnSpc>
              <a:buNone/>
            </a:pPr>
            <a:r>
              <a:rPr lang="en-US" sz="2800" b="1" dirty="0">
                <a:solidFill>
                  <a:srgbClr val="0E9F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3675380" y="4364989"/>
            <a:ext cx="2226386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862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backend domains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175375" y="3811907"/>
            <a:ext cx="2520950" cy="920750"/>
          </a:xfrm>
          <a:prstGeom prst="roundRect">
            <a:avLst>
              <a:gd name="adj" fmla="val 10690"/>
            </a:avLst>
          </a:prstGeom>
          <a:solidFill>
            <a:srgbClr val="FFFFFF"/>
          </a:solidFill>
          <a:ln w="6350">
            <a:solidFill>
              <a:srgbClr val="DFE3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355080" y="3966211"/>
            <a:ext cx="2226386" cy="3987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940"/>
              </a:lnSpc>
              <a:buNone/>
            </a:pPr>
            <a:r>
              <a:rPr lang="en-US" sz="2800" b="1" dirty="0">
                <a:solidFill>
                  <a:srgbClr val="0E9F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v3.4–3.9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6355080" y="4364989"/>
            <a:ext cx="2226386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862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release range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8855075" y="3811907"/>
            <a:ext cx="2520950" cy="920750"/>
          </a:xfrm>
          <a:prstGeom prst="roundRect">
            <a:avLst>
              <a:gd name="adj" fmla="val 10690"/>
            </a:avLst>
          </a:prstGeom>
          <a:solidFill>
            <a:srgbClr val="FFFFFF"/>
          </a:solidFill>
          <a:ln w="6350">
            <a:solidFill>
              <a:srgbClr val="DFE3E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034780" y="3966211"/>
            <a:ext cx="2226386" cy="3987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940"/>
              </a:lnSpc>
              <a:buNone/>
            </a:pPr>
            <a:r>
              <a:rPr lang="en-US" sz="2800" b="1" dirty="0">
                <a:solidFill>
                  <a:srgbClr val="0E9F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800" dirty="0"/>
          </a:p>
        </p:txBody>
      </p:sp>
      <p:sp>
        <p:nvSpPr>
          <p:cNvPr id="21" name="Text 19"/>
          <p:cNvSpPr/>
          <p:nvPr/>
        </p:nvSpPr>
        <p:spPr>
          <a:xfrm>
            <a:off x="9034780" y="4364989"/>
            <a:ext cx="2226386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862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error codes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812800" y="6238239"/>
            <a:ext cx="719455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862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ReleaseIQ · Corporate Hackathon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0058400" y="6238239"/>
            <a:ext cx="13208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862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800" y="711200"/>
            <a:ext cx="10883392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300"/>
              </a:lnSpc>
              <a:buNone/>
            </a:pPr>
            <a:r>
              <a:rPr lang="en-US" sz="3000" b="1" i="0" dirty="0">
                <a:solidFill>
                  <a:srgbClr val="0F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NimbusPay: what it does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815975" y="1362075"/>
            <a:ext cx="3414157" cy="1338580"/>
          </a:xfrm>
          <a:prstGeom prst="roundRect">
            <a:avLst>
              <a:gd name="adj" fmla="val 7353"/>
            </a:avLst>
          </a:prstGeom>
          <a:solidFill>
            <a:srgbClr val="FFFFFF"/>
          </a:solidFill>
          <a:ln w="6350">
            <a:solidFill>
              <a:srgbClr val="DFE3E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21080" y="1541782"/>
            <a:ext cx="3094065" cy="284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40"/>
              </a:lnSpc>
              <a:buNone/>
            </a:pPr>
            <a:r>
              <a:rPr lang="en-US" sz="1700" b="1" dirty="0">
                <a:solidFill>
                  <a:srgbClr val="0F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Expenses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1021080" y="1877061"/>
            <a:ext cx="3094065" cy="669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90"/>
              </a:lnSpc>
              <a:buNone/>
            </a:pPr>
            <a:r>
              <a:rPr lang="en-US" sz="1300" dirty="0">
                <a:solidFill>
                  <a:srgbClr val="5862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Receipt upload, mileage claims, auto-saved drafts, meal limits by city tier and duplicate receipt checks.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388882" y="1362075"/>
            <a:ext cx="3414157" cy="1338580"/>
          </a:xfrm>
          <a:prstGeom prst="roundRect">
            <a:avLst>
              <a:gd name="adj" fmla="val 7353"/>
            </a:avLst>
          </a:prstGeom>
          <a:solidFill>
            <a:srgbClr val="FFFFFF"/>
          </a:solidFill>
          <a:ln w="6350">
            <a:solidFill>
              <a:srgbClr val="DFE3E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93987" y="1541782"/>
            <a:ext cx="3094065" cy="284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40"/>
              </a:lnSpc>
              <a:buNone/>
            </a:pPr>
            <a:r>
              <a:rPr lang="en-US" sz="1700" b="1" dirty="0">
                <a:solidFill>
                  <a:srgbClr val="0F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Approvals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4593987" y="1877061"/>
            <a:ext cx="3094065" cy="669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90"/>
              </a:lnSpc>
              <a:buNone/>
            </a:pPr>
            <a:r>
              <a:rPr lang="en-US" sz="1300" dirty="0">
                <a:solidFill>
                  <a:srgbClr val="5862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Managers approve or reject, delegate during PTO, and pending items escalate after 7 days.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7961789" y="1362075"/>
            <a:ext cx="3414157" cy="1338580"/>
          </a:xfrm>
          <a:prstGeom prst="roundRect">
            <a:avLst>
              <a:gd name="adj" fmla="val 7353"/>
            </a:avLst>
          </a:prstGeom>
          <a:solidFill>
            <a:srgbClr val="FFFFFF"/>
          </a:solidFill>
          <a:ln w="6350">
            <a:solidFill>
              <a:srgbClr val="DFE3E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166894" y="1541782"/>
            <a:ext cx="3094065" cy="284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40"/>
              </a:lnSpc>
              <a:buNone/>
            </a:pPr>
            <a:r>
              <a:rPr lang="en-US" sz="1700" b="1" dirty="0">
                <a:solidFill>
                  <a:srgbClr val="0F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Reports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8166894" y="1877061"/>
            <a:ext cx="3094065" cy="454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90"/>
              </a:lnSpc>
              <a:buNone/>
            </a:pPr>
            <a:r>
              <a:rPr lang="en-US" sz="1300" dirty="0">
                <a:solidFill>
                  <a:srgbClr val="5862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CSV and Excel export once a date range is chosen, capped at 10,000 rows.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815975" y="2859407"/>
            <a:ext cx="3414157" cy="1338580"/>
          </a:xfrm>
          <a:prstGeom prst="roundRect">
            <a:avLst>
              <a:gd name="adj" fmla="val 7353"/>
            </a:avLst>
          </a:prstGeom>
          <a:solidFill>
            <a:srgbClr val="FFFFFF"/>
          </a:solidFill>
          <a:ln w="6350">
            <a:solidFill>
              <a:srgbClr val="DFE3E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21080" y="3039111"/>
            <a:ext cx="3094065" cy="284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40"/>
              </a:lnSpc>
              <a:buNone/>
            </a:pPr>
            <a:r>
              <a:rPr lang="en-US" sz="1700" b="1" dirty="0">
                <a:solidFill>
                  <a:srgbClr val="0F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Profile and access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1021080" y="3374389"/>
            <a:ext cx="3094065" cy="669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90"/>
              </a:lnSpc>
              <a:buNone/>
            </a:pPr>
            <a:r>
              <a:rPr lang="en-US" sz="1300" dirty="0">
                <a:solidFill>
                  <a:srgbClr val="5862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Dark mode toggle, three roles (Employee, Approver, Admin) and a 20-minute session timeout.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388882" y="2859407"/>
            <a:ext cx="3414157" cy="1338580"/>
          </a:xfrm>
          <a:prstGeom prst="roundRect">
            <a:avLst>
              <a:gd name="adj" fmla="val 7353"/>
            </a:avLst>
          </a:prstGeom>
          <a:solidFill>
            <a:srgbClr val="FFFFFF"/>
          </a:solidFill>
          <a:ln w="6350">
            <a:solidFill>
              <a:srgbClr val="DFE3E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93987" y="3039111"/>
            <a:ext cx="3094065" cy="284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40"/>
              </a:lnSpc>
              <a:buNone/>
            </a:pPr>
            <a:r>
              <a:rPr lang="en-US" sz="1700" b="1" dirty="0">
                <a:solidFill>
                  <a:srgbClr val="0F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Config and flags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4593987" y="3374389"/>
            <a:ext cx="3094065" cy="454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90"/>
              </a:lnSpc>
              <a:buNone/>
            </a:pPr>
            <a:r>
              <a:rPr lang="en-US" sz="1300" dirty="0">
                <a:solidFill>
                  <a:srgbClr val="5862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YAML settings and feature flags like reports_excel switch features per tenant.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7961789" y="2859407"/>
            <a:ext cx="3414157" cy="1338580"/>
          </a:xfrm>
          <a:prstGeom prst="roundRect">
            <a:avLst>
              <a:gd name="adj" fmla="val 7353"/>
            </a:avLst>
          </a:prstGeom>
          <a:solidFill>
            <a:srgbClr val="FFFFFF"/>
          </a:solidFill>
          <a:ln w="6350">
            <a:solidFill>
              <a:srgbClr val="DFE3E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166894" y="3039111"/>
            <a:ext cx="3094065" cy="284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40"/>
              </a:lnSpc>
              <a:buNone/>
            </a:pPr>
            <a:r>
              <a:rPr lang="en-US" sz="1700" b="1" dirty="0">
                <a:solidFill>
                  <a:srgbClr val="0F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Error codes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8166894" y="3374389"/>
            <a:ext cx="3094065" cy="669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90"/>
              </a:lnSpc>
              <a:buNone/>
            </a:pPr>
            <a:r>
              <a:rPr lang="en-US" sz="1300" dirty="0">
                <a:solidFill>
                  <a:srgbClr val="5862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UPL-413 upload size, EXP-1042 policy limit, DEL-422 delegation, RPT-429 export rows.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812800" y="6238239"/>
            <a:ext cx="719455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862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ReleaseIQ · Corporate Hackathon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0058400" y="6238239"/>
            <a:ext cx="13208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862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800" y="711200"/>
            <a:ext cx="10883392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300"/>
              </a:lnSpc>
              <a:buNone/>
            </a:pPr>
            <a:r>
              <a:rPr lang="en-US" sz="3000" b="1" i="0" dirty="0">
                <a:solidFill>
                  <a:srgbClr val="0F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NimbusPay: release history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815975" y="1311275"/>
            <a:ext cx="10560050" cy="321310"/>
          </a:xfrm>
          <a:prstGeom prst="roundRect">
            <a:avLst>
              <a:gd name="adj" fmla="val 18775"/>
            </a:avLst>
          </a:prstGeom>
          <a:solidFill>
            <a:srgbClr val="0F2A4A"/>
          </a:solidFill>
          <a:ln w="6350">
            <a:solidFill>
              <a:srgbClr val="DFE3E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70280" y="1376682"/>
            <a:ext cx="100330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Version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2024380" y="1376682"/>
            <a:ext cx="125730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Date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3332480" y="1376682"/>
            <a:ext cx="287782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228080" y="1376682"/>
            <a:ext cx="5143449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rule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815975" y="1677036"/>
            <a:ext cx="10560050" cy="321310"/>
          </a:xfrm>
          <a:prstGeom prst="roundRect">
            <a:avLst>
              <a:gd name="adj" fmla="val 18775"/>
            </a:avLst>
          </a:prstGeom>
          <a:solidFill>
            <a:srgbClr val="FFFFFF"/>
          </a:solidFill>
          <a:ln w="6350">
            <a:solidFill>
              <a:srgbClr val="DFE3E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70280" y="1742439"/>
            <a:ext cx="100330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200" b="1" dirty="0">
                <a:solidFill>
                  <a:srgbClr val="0E9F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3.4.0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2024380" y="1742439"/>
            <a:ext cx="125730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162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Feb 2026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332480" y="1742439"/>
            <a:ext cx="287782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200" b="1" dirty="0">
                <a:solidFill>
                  <a:srgbClr val="162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Mileage claims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228080" y="1742439"/>
            <a:ext cx="5143449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162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Max 500 km per claim, 0.55 per km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15975" y="2042796"/>
            <a:ext cx="10560050" cy="321310"/>
          </a:xfrm>
          <a:prstGeom prst="roundRect">
            <a:avLst>
              <a:gd name="adj" fmla="val 18775"/>
            </a:avLst>
          </a:prstGeom>
          <a:solidFill>
            <a:srgbClr val="FFFFFF"/>
          </a:solidFill>
          <a:ln w="6350">
            <a:solidFill>
              <a:srgbClr val="DFE3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70280" y="2108200"/>
            <a:ext cx="100330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200" b="1" dirty="0">
                <a:solidFill>
                  <a:srgbClr val="0E9F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3.4.5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2024380" y="2108200"/>
            <a:ext cx="125730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162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Feb 2026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332480" y="2108200"/>
            <a:ext cx="287782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200" b="1" dirty="0">
                <a:solidFill>
                  <a:srgbClr val="162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Dark mode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228080" y="2108200"/>
            <a:ext cx="5143449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162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Toggle under Profile, Appearance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815975" y="2408557"/>
            <a:ext cx="10560050" cy="321310"/>
          </a:xfrm>
          <a:prstGeom prst="roundRect">
            <a:avLst>
              <a:gd name="adj" fmla="val 18775"/>
            </a:avLst>
          </a:prstGeom>
          <a:solidFill>
            <a:srgbClr val="FFFFFF"/>
          </a:solidFill>
          <a:ln w="6350">
            <a:solidFill>
              <a:srgbClr val="DFE3E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70280" y="2473961"/>
            <a:ext cx="100330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200" b="1" dirty="0">
                <a:solidFill>
                  <a:srgbClr val="0E9F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3.5.0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2024380" y="2473961"/>
            <a:ext cx="125730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162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 2026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3332480" y="2473961"/>
            <a:ext cx="287782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200" b="1" dirty="0">
                <a:solidFill>
                  <a:srgbClr val="162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Bulk receipt upload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228080" y="2473961"/>
            <a:ext cx="5143449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162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 to 20 JPG, PNG or PDF files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815975" y="2774314"/>
            <a:ext cx="10560050" cy="321310"/>
          </a:xfrm>
          <a:prstGeom prst="roundRect">
            <a:avLst>
              <a:gd name="adj" fmla="val 18775"/>
            </a:avLst>
          </a:prstGeom>
          <a:solidFill>
            <a:srgbClr val="FFFFFF"/>
          </a:solidFill>
          <a:ln w="6350">
            <a:solidFill>
              <a:srgbClr val="DFE3E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70280" y="2839721"/>
            <a:ext cx="100330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200" b="1" dirty="0">
                <a:solidFill>
                  <a:srgbClr val="0E9F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3.5.0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2024380" y="2839721"/>
            <a:ext cx="125730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162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 2026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3332480" y="2839721"/>
            <a:ext cx="287782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200" b="1" dirty="0">
                <a:solidFill>
                  <a:srgbClr val="162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Policy limit warnings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228080" y="2839721"/>
            <a:ext cx="5143449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162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Warn at 80%, block at 100% unless justified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815975" y="3140075"/>
            <a:ext cx="10560050" cy="321310"/>
          </a:xfrm>
          <a:prstGeom prst="roundRect">
            <a:avLst>
              <a:gd name="adj" fmla="val 18775"/>
            </a:avLst>
          </a:prstGeom>
          <a:solidFill>
            <a:srgbClr val="FFFFFF"/>
          </a:solidFill>
          <a:ln w="6350">
            <a:solidFill>
              <a:srgbClr val="DFE3E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70280" y="3205482"/>
            <a:ext cx="100330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200" b="1" dirty="0">
                <a:solidFill>
                  <a:srgbClr val="0E9F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3.6.0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2024380" y="3205482"/>
            <a:ext cx="125730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162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May 2026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3332480" y="3205482"/>
            <a:ext cx="287782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200" b="1" dirty="0">
                <a:solidFill>
                  <a:srgbClr val="162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Excel export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6228080" y="3205482"/>
            <a:ext cx="5143449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162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Behind reports_excel flag, 10,000 rows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815975" y="3505836"/>
            <a:ext cx="10560050" cy="321310"/>
          </a:xfrm>
          <a:prstGeom prst="roundRect">
            <a:avLst>
              <a:gd name="adj" fmla="val 18775"/>
            </a:avLst>
          </a:prstGeom>
          <a:solidFill>
            <a:srgbClr val="FFFFFF"/>
          </a:solidFill>
          <a:ln w="6350">
            <a:solidFill>
              <a:srgbClr val="DFE3E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970280" y="3571239"/>
            <a:ext cx="100330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200" b="1" dirty="0">
                <a:solidFill>
                  <a:srgbClr val="0E9F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3.6.1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2024380" y="3571239"/>
            <a:ext cx="125730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162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May 2026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3332480" y="3571239"/>
            <a:ext cx="287782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200" b="1" dirty="0">
                <a:solidFill>
                  <a:srgbClr val="162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Export button fix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6228080" y="3571239"/>
            <a:ext cx="5143449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162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Enabled only after a date range is set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815975" y="3871596"/>
            <a:ext cx="10560050" cy="321310"/>
          </a:xfrm>
          <a:prstGeom prst="roundRect">
            <a:avLst>
              <a:gd name="adj" fmla="val 18775"/>
            </a:avLst>
          </a:prstGeom>
          <a:solidFill>
            <a:srgbClr val="FFFFFF"/>
          </a:solidFill>
          <a:ln w="6350">
            <a:solidFill>
              <a:srgbClr val="DFE3E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970280" y="3937000"/>
            <a:ext cx="100330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200" b="1" dirty="0">
                <a:solidFill>
                  <a:srgbClr val="0E9F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3.7.0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2024380" y="3937000"/>
            <a:ext cx="125730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162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Jun 2026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3332480" y="3937000"/>
            <a:ext cx="287782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200" b="1" dirty="0">
                <a:solidFill>
                  <a:srgbClr val="162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Auto-save drafts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6228080" y="3937000"/>
            <a:ext cx="5143449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162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30 seconds, expire after 14 days</a:t>
            </a:r>
            <a:endParaRPr lang="en-US" sz="1200" dirty="0"/>
          </a:p>
        </p:txBody>
      </p:sp>
      <p:sp>
        <p:nvSpPr>
          <p:cNvPr id="43" name="Shape 41"/>
          <p:cNvSpPr/>
          <p:nvPr/>
        </p:nvSpPr>
        <p:spPr>
          <a:xfrm>
            <a:off x="815975" y="4237357"/>
            <a:ext cx="10560050" cy="321310"/>
          </a:xfrm>
          <a:prstGeom prst="roundRect">
            <a:avLst>
              <a:gd name="adj" fmla="val 18775"/>
            </a:avLst>
          </a:prstGeom>
          <a:solidFill>
            <a:srgbClr val="FFFFFF"/>
          </a:solidFill>
          <a:ln w="6350">
            <a:solidFill>
              <a:srgbClr val="DFE3E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970280" y="4302761"/>
            <a:ext cx="100330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200" b="1" dirty="0">
                <a:solidFill>
                  <a:srgbClr val="0E9F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3.8.0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2024380" y="4302761"/>
            <a:ext cx="125730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162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Jul 2026</a:t>
            </a:r>
            <a:endParaRPr lang="en-US" sz="1200" dirty="0"/>
          </a:p>
        </p:txBody>
      </p:sp>
      <p:sp>
        <p:nvSpPr>
          <p:cNvPr id="46" name="Text 44"/>
          <p:cNvSpPr/>
          <p:nvPr/>
        </p:nvSpPr>
        <p:spPr>
          <a:xfrm>
            <a:off x="3332480" y="4302761"/>
            <a:ext cx="287782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200" b="1" dirty="0">
                <a:solidFill>
                  <a:srgbClr val="162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Delegated approvals</a:t>
            </a:r>
            <a:endParaRPr lang="en-US" sz="1200" dirty="0"/>
          </a:p>
        </p:txBody>
      </p:sp>
      <p:sp>
        <p:nvSpPr>
          <p:cNvPr id="47" name="Text 45"/>
          <p:cNvSpPr/>
          <p:nvPr/>
        </p:nvSpPr>
        <p:spPr>
          <a:xfrm>
            <a:off x="6228080" y="4302761"/>
            <a:ext cx="5143449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162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APPROVER role only, up to 30 days</a:t>
            </a:r>
            <a:endParaRPr lang="en-US" sz="1200" dirty="0"/>
          </a:p>
        </p:txBody>
      </p:sp>
      <p:sp>
        <p:nvSpPr>
          <p:cNvPr id="48" name="Shape 46"/>
          <p:cNvSpPr/>
          <p:nvPr/>
        </p:nvSpPr>
        <p:spPr>
          <a:xfrm>
            <a:off x="815975" y="4603114"/>
            <a:ext cx="10560050" cy="321310"/>
          </a:xfrm>
          <a:prstGeom prst="roundRect">
            <a:avLst>
              <a:gd name="adj" fmla="val 18775"/>
            </a:avLst>
          </a:prstGeom>
          <a:solidFill>
            <a:srgbClr val="FFFFFF"/>
          </a:solidFill>
          <a:ln w="6350">
            <a:solidFill>
              <a:srgbClr val="DFE3E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970280" y="4668521"/>
            <a:ext cx="100330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200" b="1" dirty="0">
                <a:solidFill>
                  <a:srgbClr val="0E9F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3.9.0</a:t>
            </a:r>
            <a:endParaRPr lang="en-US" sz="1200" dirty="0"/>
          </a:p>
        </p:txBody>
      </p:sp>
      <p:sp>
        <p:nvSpPr>
          <p:cNvPr id="50" name="Text 48"/>
          <p:cNvSpPr/>
          <p:nvPr/>
        </p:nvSpPr>
        <p:spPr>
          <a:xfrm>
            <a:off x="2024380" y="4668521"/>
            <a:ext cx="125730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162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Aug 2026</a:t>
            </a:r>
            <a:endParaRPr lang="en-US" sz="1200" dirty="0"/>
          </a:p>
        </p:txBody>
      </p:sp>
      <p:sp>
        <p:nvSpPr>
          <p:cNvPr id="51" name="Text 49"/>
          <p:cNvSpPr/>
          <p:nvPr/>
        </p:nvSpPr>
        <p:spPr>
          <a:xfrm>
            <a:off x="3332480" y="4668521"/>
            <a:ext cx="287782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200" b="1" dirty="0">
                <a:solidFill>
                  <a:srgbClr val="162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Admin token block</a:t>
            </a:r>
            <a:endParaRPr lang="en-US" sz="1200" dirty="0"/>
          </a:p>
        </p:txBody>
      </p:sp>
      <p:sp>
        <p:nvSpPr>
          <p:cNvPr id="52" name="Text 50"/>
          <p:cNvSpPr/>
          <p:nvPr/>
        </p:nvSpPr>
        <p:spPr>
          <a:xfrm>
            <a:off x="6228080" y="4668521"/>
            <a:ext cx="5143449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162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Admin tokens rejected (NPAY-123, PR #45)</a:t>
            </a:r>
            <a:endParaRPr lang="en-US" sz="1200" dirty="0"/>
          </a:p>
        </p:txBody>
      </p:sp>
      <p:sp>
        <p:nvSpPr>
          <p:cNvPr id="53" name="Shape 51"/>
          <p:cNvSpPr/>
          <p:nvPr/>
        </p:nvSpPr>
        <p:spPr>
          <a:xfrm>
            <a:off x="815975" y="4968875"/>
            <a:ext cx="10560050" cy="321310"/>
          </a:xfrm>
          <a:prstGeom prst="roundRect">
            <a:avLst>
              <a:gd name="adj" fmla="val 18775"/>
            </a:avLst>
          </a:prstGeom>
          <a:solidFill>
            <a:srgbClr val="FDF1DC"/>
          </a:solidFill>
          <a:ln w="6350">
            <a:solidFill>
              <a:srgbClr val="DFE3E0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970280" y="5034282"/>
            <a:ext cx="100330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200" b="1" dirty="0">
                <a:solidFill>
                  <a:srgbClr val="0E9F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3.9.0</a:t>
            </a:r>
            <a:endParaRPr lang="en-US" sz="1200" dirty="0"/>
          </a:p>
        </p:txBody>
      </p:sp>
      <p:sp>
        <p:nvSpPr>
          <p:cNvPr id="55" name="Text 53"/>
          <p:cNvSpPr/>
          <p:nvPr/>
        </p:nvSpPr>
        <p:spPr>
          <a:xfrm>
            <a:off x="2024380" y="5034282"/>
            <a:ext cx="125730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162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Unreleased</a:t>
            </a:r>
            <a:endParaRPr lang="en-US" sz="1200" dirty="0"/>
          </a:p>
        </p:txBody>
      </p:sp>
      <p:sp>
        <p:nvSpPr>
          <p:cNvPr id="56" name="Text 54"/>
          <p:cNvSpPr/>
          <p:nvPr/>
        </p:nvSpPr>
        <p:spPr>
          <a:xfrm>
            <a:off x="3332480" y="5034282"/>
            <a:ext cx="287782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200" b="1" dirty="0">
                <a:solidFill>
                  <a:srgbClr val="162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Multi-currency</a:t>
            </a:r>
            <a:endParaRPr lang="en-US" sz="1200" dirty="0"/>
          </a:p>
        </p:txBody>
      </p:sp>
      <p:sp>
        <p:nvSpPr>
          <p:cNvPr id="57" name="Text 55"/>
          <p:cNvSpPr/>
          <p:nvPr/>
        </p:nvSpPr>
        <p:spPr>
          <a:xfrm>
            <a:off x="6228080" y="5034282"/>
            <a:ext cx="5143449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162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Picker hidden unless cost center allows</a:t>
            </a:r>
            <a:endParaRPr lang="en-US" sz="1200" dirty="0"/>
          </a:p>
        </p:txBody>
      </p:sp>
      <p:sp>
        <p:nvSpPr>
          <p:cNvPr id="58" name="Text 56"/>
          <p:cNvSpPr/>
          <p:nvPr/>
        </p:nvSpPr>
        <p:spPr>
          <a:xfrm>
            <a:off x="812800" y="6238239"/>
            <a:ext cx="719455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862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ReleaseIQ · Corporate Hackathon</a:t>
            </a:r>
            <a:endParaRPr lang="en-US" sz="1200" dirty="0"/>
          </a:p>
        </p:txBody>
      </p:sp>
      <p:sp>
        <p:nvSpPr>
          <p:cNvPr id="59" name="Text 57"/>
          <p:cNvSpPr/>
          <p:nvPr/>
        </p:nvSpPr>
        <p:spPr>
          <a:xfrm>
            <a:off x="10058400" y="6238239"/>
            <a:ext cx="13208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862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800" y="711200"/>
            <a:ext cx="10883392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300"/>
              </a:lnSpc>
              <a:buNone/>
            </a:pPr>
            <a:r>
              <a:rPr lang="en-US" sz="3000" b="1" i="0" dirty="0">
                <a:solidFill>
                  <a:srgbClr val="0F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NimbusPay: where Jira and code disagree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815975" y="1362075"/>
            <a:ext cx="5200650" cy="1123950"/>
          </a:xfrm>
          <a:prstGeom prst="roundRect">
            <a:avLst>
              <a:gd name="adj" fmla="val 8757"/>
            </a:avLst>
          </a:prstGeom>
          <a:solidFill>
            <a:srgbClr val="FFFFFF"/>
          </a:solidFill>
          <a:ln w="6350">
            <a:solidFill>
              <a:srgbClr val="DFE3E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21080" y="1541782"/>
            <a:ext cx="4934153" cy="284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40"/>
              </a:lnSpc>
              <a:buNone/>
            </a:pPr>
            <a:r>
              <a:rPr lang="en-US" sz="1700" b="1" dirty="0">
                <a:solidFill>
                  <a:srgbClr val="0F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Upload limit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1021080" y="1877061"/>
            <a:ext cx="4934153" cy="454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90"/>
              </a:lnSpc>
              <a:buNone/>
            </a:pPr>
            <a:r>
              <a:rPr lang="en-US" sz="1300" dirty="0">
                <a:solidFill>
                  <a:srgbClr val="5862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Jira (NPAY-1042) promises 50 MB per receipt. The code enforces 10 MB after an infra incident, so users hit UPL-413.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175375" y="1362075"/>
            <a:ext cx="5200650" cy="1123950"/>
          </a:xfrm>
          <a:prstGeom prst="roundRect">
            <a:avLst>
              <a:gd name="adj" fmla="val 8757"/>
            </a:avLst>
          </a:prstGeom>
          <a:solidFill>
            <a:srgbClr val="FFFFFF"/>
          </a:solidFill>
          <a:ln w="6350">
            <a:solidFill>
              <a:srgbClr val="DFE3E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380480" y="1541782"/>
            <a:ext cx="4934153" cy="284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40"/>
              </a:lnSpc>
              <a:buNone/>
            </a:pPr>
            <a:r>
              <a:rPr lang="en-US" sz="1700" b="1" dirty="0">
                <a:solidFill>
                  <a:srgbClr val="0F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 flags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6380480" y="1877061"/>
            <a:ext cx="4934153" cy="454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90"/>
              </a:lnSpc>
              <a:buNone/>
            </a:pPr>
            <a:r>
              <a:rPr lang="en-US" sz="1300" dirty="0">
                <a:solidFill>
                  <a:srgbClr val="5862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Excel export exists, but reports_excel is off by default. An admin must enable it per tenant.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815975" y="2644775"/>
            <a:ext cx="5200650" cy="1123950"/>
          </a:xfrm>
          <a:prstGeom prst="roundRect">
            <a:avLst>
              <a:gd name="adj" fmla="val 8757"/>
            </a:avLst>
          </a:prstGeom>
          <a:solidFill>
            <a:srgbClr val="FFFFFF"/>
          </a:solidFill>
          <a:ln w="6350">
            <a:solidFill>
              <a:srgbClr val="DFE3E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21080" y="2824482"/>
            <a:ext cx="4934153" cy="284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40"/>
              </a:lnSpc>
              <a:buNone/>
            </a:pPr>
            <a:r>
              <a:rPr lang="en-US" sz="1700" b="1" dirty="0">
                <a:solidFill>
                  <a:srgbClr val="0F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Code-only behavior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1021080" y="3159761"/>
            <a:ext cx="4934153" cy="454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90"/>
              </a:lnSpc>
              <a:buNone/>
            </a:pPr>
            <a:r>
              <a:rPr lang="en-US" sz="1300" dirty="0">
                <a:solidFill>
                  <a:srgbClr val="5862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Duplicate receipt detection, the weekend expense flag, the 20-minute session timeout and 7-day escalation have no ticket.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175375" y="2644775"/>
            <a:ext cx="5200650" cy="1123950"/>
          </a:xfrm>
          <a:prstGeom prst="roundRect">
            <a:avLst>
              <a:gd name="adj" fmla="val 8757"/>
            </a:avLst>
          </a:prstGeom>
          <a:solidFill>
            <a:srgbClr val="FFFFFF"/>
          </a:solidFill>
          <a:ln w="6350">
            <a:solidFill>
              <a:srgbClr val="DFE3E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80480" y="2824482"/>
            <a:ext cx="4934153" cy="284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40"/>
              </a:lnSpc>
              <a:buNone/>
            </a:pPr>
            <a:r>
              <a:rPr lang="en-US" sz="1700" b="1" dirty="0">
                <a:solidFill>
                  <a:srgbClr val="0F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Release gaps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6380480" y="3159761"/>
            <a:ext cx="4934153" cy="454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90"/>
              </a:lnSpc>
              <a:buNone/>
            </a:pPr>
            <a:r>
              <a:rPr lang="en-US" sz="1300" dirty="0">
                <a:solidFill>
                  <a:srgbClr val="5862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Multi-currency is still unreleased. The 3.9.0 token rule rejects admin tokens, which can break older integrations.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812800" y="6238242"/>
            <a:ext cx="719455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862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ReleaseIQ · Corporate Hackathon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0058400" y="6238242"/>
            <a:ext cx="13208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862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800" y="711200"/>
            <a:ext cx="10883392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300"/>
              </a:lnSpc>
              <a:buNone/>
            </a:pPr>
            <a:r>
              <a:rPr lang="en-US" sz="3000" b="1" i="0" dirty="0">
                <a:solidFill>
                  <a:srgbClr val="0F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 questions by scenario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815975" y="1362075"/>
            <a:ext cx="5200650" cy="1216660"/>
          </a:xfrm>
          <a:prstGeom prst="roundRect">
            <a:avLst>
              <a:gd name="adj" fmla="val 8090"/>
            </a:avLst>
          </a:prstGeom>
          <a:solidFill>
            <a:srgbClr val="FFFFFF"/>
          </a:solidFill>
          <a:ln w="6350">
            <a:solidFill>
              <a:srgbClr val="DFE3E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21080" y="1541779"/>
            <a:ext cx="4934153" cy="284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40"/>
              </a:lnSpc>
              <a:buNone/>
            </a:pPr>
            <a:r>
              <a:rPr lang="en-US" sz="1700" b="1" dirty="0">
                <a:solidFill>
                  <a:srgbClr val="0F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Jira only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1021080" y="1877064"/>
            <a:ext cx="4934153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400" b="1" dirty="0">
                <a:solidFill>
                  <a:srgbClr val="162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“How do I enable dark mode?”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021080" y="2184400"/>
            <a:ext cx="4934153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90"/>
              </a:lnSpc>
              <a:buNone/>
            </a:pPr>
            <a:r>
              <a:rPr lang="en-US" sz="1300" dirty="0">
                <a:solidFill>
                  <a:srgbClr val="5862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Steps from the Profile, Appearance ticket.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175375" y="1362075"/>
            <a:ext cx="5200650" cy="1216660"/>
          </a:xfrm>
          <a:prstGeom prst="roundRect">
            <a:avLst>
              <a:gd name="adj" fmla="val 8090"/>
            </a:avLst>
          </a:prstGeom>
          <a:solidFill>
            <a:srgbClr val="FFFFFF"/>
          </a:solidFill>
          <a:ln w="6350">
            <a:solidFill>
              <a:srgbClr val="DFE3E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380480" y="1541779"/>
            <a:ext cx="4934153" cy="284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40"/>
              </a:lnSpc>
              <a:buNone/>
            </a:pPr>
            <a:r>
              <a:rPr lang="en-US" sz="1700" b="1" dirty="0">
                <a:solidFill>
                  <a:srgbClr val="0F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Jira and code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6380480" y="1877064"/>
            <a:ext cx="4934153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400" b="1" dirty="0">
                <a:solidFill>
                  <a:srgbClr val="162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“Why does my 15 MB receipt upload fail?”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380480" y="2184400"/>
            <a:ext cx="4934153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90"/>
              </a:lnSpc>
              <a:buNone/>
            </a:pPr>
            <a:r>
              <a:rPr lang="en-US" sz="1300" dirty="0">
                <a:solidFill>
                  <a:srgbClr val="5862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Flags 50 MB in Jira vs 10 MB in code.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815975" y="2737489"/>
            <a:ext cx="5200650" cy="1216660"/>
          </a:xfrm>
          <a:prstGeom prst="roundRect">
            <a:avLst>
              <a:gd name="adj" fmla="val 8090"/>
            </a:avLst>
          </a:prstGeom>
          <a:solidFill>
            <a:srgbClr val="FFFFFF"/>
          </a:solidFill>
          <a:ln w="6350">
            <a:solidFill>
              <a:srgbClr val="DFE3E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21080" y="2917192"/>
            <a:ext cx="4934153" cy="284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40"/>
              </a:lnSpc>
              <a:buNone/>
            </a:pPr>
            <a:r>
              <a:rPr lang="en-US" sz="1700" b="1" dirty="0">
                <a:solidFill>
                  <a:srgbClr val="0F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 only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1021080" y="3252471"/>
            <a:ext cx="4992370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400" b="1" dirty="0">
                <a:solidFill>
                  <a:srgbClr val="162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“What if my manager does not approve within 7 days?”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021080" y="3559814"/>
            <a:ext cx="4934153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90"/>
              </a:lnSpc>
              <a:buNone/>
            </a:pPr>
            <a:r>
              <a:rPr lang="en-US" sz="1300" dirty="0">
                <a:solidFill>
                  <a:srgbClr val="5862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Answers from the escalation rule.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175375" y="2737489"/>
            <a:ext cx="5200650" cy="1216660"/>
          </a:xfrm>
          <a:prstGeom prst="roundRect">
            <a:avLst>
              <a:gd name="adj" fmla="val 8090"/>
            </a:avLst>
          </a:prstGeom>
          <a:solidFill>
            <a:srgbClr val="FFFFFF"/>
          </a:solidFill>
          <a:ln w="6350">
            <a:solidFill>
              <a:srgbClr val="DFE3E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380480" y="2917192"/>
            <a:ext cx="4934153" cy="284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40"/>
              </a:lnSpc>
              <a:buNone/>
            </a:pPr>
            <a:r>
              <a:rPr lang="en-US" sz="1700" b="1" dirty="0">
                <a:solidFill>
                  <a:srgbClr val="0F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found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6380480" y="3252471"/>
            <a:ext cx="4934153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400" b="1" dirty="0">
                <a:solidFill>
                  <a:srgbClr val="162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“How do I set up SSO with Okta?”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380480" y="3559814"/>
            <a:ext cx="4934153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90"/>
              </a:lnSpc>
              <a:buNone/>
            </a:pPr>
            <a:r>
              <a:rPr lang="en-US" sz="1300" dirty="0">
                <a:solidFill>
                  <a:srgbClr val="5862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Says it cannot find it and asks for an AYS ticket.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812800" y="6238242"/>
            <a:ext cx="719455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862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ReleaseIQ · Corporate Hackathon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0058400" y="6238242"/>
            <a:ext cx="13208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862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4056221" y="609600"/>
            <a:ext cx="4079558" cy="416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3080"/>
              </a:lnSpc>
              <a:buNone/>
            </a:pPr>
            <a:r>
              <a:rPr lang="en-US" sz="2800" b="1" i="0" dirty="0">
                <a:solidFill>
                  <a:srgbClr val="0F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 architecture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1333500" y="1153164"/>
            <a:ext cx="9525000" cy="4775200"/>
          </a:xfrm>
          <a:prstGeom prst="roundRect">
            <a:avLst>
              <a:gd name="adj" fmla="val 2128"/>
            </a:avLst>
          </a:prstGeom>
          <a:solidFill>
            <a:srgbClr val="FFFFFF"/>
          </a:solidFill>
          <a:ln/>
        </p:spPr>
      </p:sp>
      <p:pic>
        <p:nvPicPr>
          <p:cNvPr id="4" name="Image 0" descr="ReleaseIQ system architecture: online query flow and offline ingestion pipeline">    </p:cNvPr>
          <p:cNvPicPr>
            <a:picLocks noChangeAspect="1"/>
          </p:cNvPicPr>
          <p:nvPr/>
        </p:nvPicPr>
        <p:blipFill>
          <a:blip r:embed="rId1"/>
          <a:srcRect l="0" r="0" t="-133" b="-133"/>
          <a:stretch/>
        </p:blipFill>
        <p:spPr>
          <a:xfrm>
            <a:off x="1333500" y="1153164"/>
            <a:ext cx="9525000" cy="4775200"/>
          </a:xfrm>
          <a:prstGeom prst="roundRect">
            <a:avLst>
              <a:gd name="adj" fmla="val 2128"/>
            </a:avLst>
          </a:prstGeom>
        </p:spPr>
      </p:pic>
      <p:sp>
        <p:nvSpPr>
          <p:cNvPr id="5" name="Text 2"/>
          <p:cNvSpPr/>
          <p:nvPr/>
        </p:nvSpPr>
        <p:spPr>
          <a:xfrm>
            <a:off x="10058400" y="6238242"/>
            <a:ext cx="13208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862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800" y="812800"/>
            <a:ext cx="10883392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300"/>
              </a:lnSpc>
              <a:buNone/>
            </a:pPr>
            <a:r>
              <a:rPr lang="en-US" sz="3000" b="1" i="0" dirty="0">
                <a:solidFill>
                  <a:srgbClr val="0F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Components: interface and services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815975" y="1489075"/>
            <a:ext cx="5200650" cy="1602740"/>
          </a:xfrm>
          <a:prstGeom prst="roundRect">
            <a:avLst>
              <a:gd name="adj" fmla="val 6141"/>
            </a:avLst>
          </a:prstGeom>
          <a:solidFill>
            <a:srgbClr val="FFFFFF"/>
          </a:solidFill>
          <a:ln w="6350">
            <a:solidFill>
              <a:srgbClr val="DFE3E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21080" y="1668779"/>
            <a:ext cx="4934153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0E9F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 LAYER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021080" y="1945642"/>
            <a:ext cx="4934153" cy="284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40"/>
              </a:lnSpc>
              <a:buNone/>
            </a:pPr>
            <a:r>
              <a:rPr lang="en-US" sz="1700" b="1" dirty="0">
                <a:solidFill>
                  <a:srgbClr val="0F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Streamlit frontend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1021080" y="2268221"/>
            <a:ext cx="4934153" cy="669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90"/>
              </a:lnSpc>
              <a:buNone/>
            </a:pPr>
            <a:r>
              <a:rPr lang="en-US" sz="1300" dirty="0">
                <a:solidFill>
                  <a:srgbClr val="5862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Chat UI that sends each question to the API and shows the answer, route, confidence, sources, mismatch alerts and the support note.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175375" y="1489075"/>
            <a:ext cx="5200650" cy="1602740"/>
          </a:xfrm>
          <a:prstGeom prst="roundRect">
            <a:avLst>
              <a:gd name="adj" fmla="val 6141"/>
            </a:avLst>
          </a:prstGeom>
          <a:solidFill>
            <a:srgbClr val="FFFFFF"/>
          </a:solidFill>
          <a:ln w="6350">
            <a:solidFill>
              <a:srgbClr val="DFE3E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380480" y="1668779"/>
            <a:ext cx="4934153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0E9F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 LAYER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380480" y="1945642"/>
            <a:ext cx="4934153" cy="284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40"/>
              </a:lnSpc>
              <a:buNone/>
            </a:pPr>
            <a:r>
              <a:rPr lang="en-US" sz="1700" b="1" dirty="0">
                <a:solidFill>
                  <a:srgbClr val="0F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FastAPI backend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6380480" y="2268221"/>
            <a:ext cx="4934153" cy="669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90"/>
              </a:lnSpc>
              <a:buNone/>
            </a:pPr>
            <a:r>
              <a:rPr lang="en-US" sz="1300" dirty="0">
                <a:solidFill>
                  <a:srgbClr val="5862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Serves chat, feedback, health and admin endpoints. Screens prompt injection, tags every request with an ID and auto-ingests data on startup.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815975" y="3250567"/>
            <a:ext cx="5200650" cy="1388110"/>
          </a:xfrm>
          <a:prstGeom prst="roundRect">
            <a:avLst>
              <a:gd name="adj" fmla="val 7091"/>
            </a:avLst>
          </a:prstGeom>
          <a:solidFill>
            <a:srgbClr val="FFFFFF"/>
          </a:solidFill>
          <a:ln w="6350">
            <a:solidFill>
              <a:srgbClr val="DFE3E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21080" y="3430271"/>
            <a:ext cx="4934153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0E9F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SPEED AND CONTEXT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021080" y="3707129"/>
            <a:ext cx="4934153" cy="284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40"/>
              </a:lnSpc>
              <a:buNone/>
            </a:pPr>
            <a:r>
              <a:rPr lang="en-US" sz="1700" b="1" dirty="0">
                <a:solidFill>
                  <a:srgbClr val="0F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Fuzzy cache and sessions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1021080" y="4029714"/>
            <a:ext cx="4934153" cy="454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90"/>
              </a:lnSpc>
              <a:buNone/>
            </a:pPr>
            <a:r>
              <a:rPr lang="en-US" sz="1300" dirty="0">
                <a:solidFill>
                  <a:srgbClr val="5862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Similar past questions (0.85+ match) return instantly. Session memory keeps the last turns so follow-ups make sense.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175375" y="3250567"/>
            <a:ext cx="5200650" cy="1388110"/>
          </a:xfrm>
          <a:prstGeom prst="roundRect">
            <a:avLst>
              <a:gd name="adj" fmla="val 7091"/>
            </a:avLst>
          </a:prstGeom>
          <a:solidFill>
            <a:srgbClr val="FFFFFF"/>
          </a:solidFill>
          <a:ln w="6350">
            <a:solidFill>
              <a:srgbClr val="DFE3E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380480" y="3430271"/>
            <a:ext cx="4934153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B874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EXTERNAL SERVICE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380480" y="3707129"/>
            <a:ext cx="4934153" cy="284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40"/>
              </a:lnSpc>
              <a:buNone/>
            </a:pPr>
            <a:r>
              <a:rPr lang="en-US" sz="1700" b="1" dirty="0">
                <a:solidFill>
                  <a:srgbClr val="0F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Groq LLM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6380480" y="4029714"/>
            <a:ext cx="4934153" cy="454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90"/>
              </a:lnSpc>
              <a:buNone/>
            </a:pPr>
            <a:r>
              <a:rPr lang="en-US" sz="1300" dirty="0">
                <a:solidFill>
                  <a:srgbClr val="5862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 inference for query rewriting, consistency checks, answer writing and file digests. Gemini and OpenAI can be swapped in.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812800" y="6238242"/>
            <a:ext cx="719455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862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ReleaseIQ · Corporate Hackathon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0058400" y="6238242"/>
            <a:ext cx="13208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862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800" y="812800"/>
            <a:ext cx="10883392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300"/>
              </a:lnSpc>
              <a:buNone/>
            </a:pPr>
            <a:r>
              <a:rPr lang="en-US" sz="3000" b="1" i="0" dirty="0">
                <a:solidFill>
                  <a:srgbClr val="0F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Components: the cascade pipeline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815975" y="1489075"/>
            <a:ext cx="5200650" cy="1602740"/>
          </a:xfrm>
          <a:prstGeom prst="roundRect">
            <a:avLst>
              <a:gd name="adj" fmla="val 6141"/>
            </a:avLst>
          </a:prstGeom>
          <a:solidFill>
            <a:srgbClr val="FFFFFF"/>
          </a:solidFill>
          <a:ln w="6350">
            <a:solidFill>
              <a:srgbClr val="DFE3E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21080" y="1668779"/>
            <a:ext cx="4934153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0E9F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1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021080" y="1945642"/>
            <a:ext cx="4934153" cy="284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40"/>
              </a:lnSpc>
              <a:buNone/>
            </a:pPr>
            <a:r>
              <a:rPr lang="en-US" sz="1700" b="1" dirty="0">
                <a:solidFill>
                  <a:srgbClr val="0F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Query understanding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1021080" y="2268221"/>
            <a:ext cx="4934153" cy="454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90"/>
              </a:lnSpc>
              <a:buNone/>
            </a:pPr>
            <a:r>
              <a:rPr lang="en-US" sz="1300" dirty="0">
                <a:solidFill>
                  <a:srgbClr val="5862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Finds intent, error codes and UI terms, then writes three search rewrites. Uses chat history only to resolve “it” and “that feature”.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175375" y="1489075"/>
            <a:ext cx="5200650" cy="1602740"/>
          </a:xfrm>
          <a:prstGeom prst="roundRect">
            <a:avLst>
              <a:gd name="adj" fmla="val 6141"/>
            </a:avLst>
          </a:prstGeom>
          <a:solidFill>
            <a:srgbClr val="FFFFFF"/>
          </a:solidFill>
          <a:ln w="6350">
            <a:solidFill>
              <a:srgbClr val="DFE3E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380480" y="1668779"/>
            <a:ext cx="4934153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0E9F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2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380480" y="1945642"/>
            <a:ext cx="4934153" cy="284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40"/>
              </a:lnSpc>
              <a:buNone/>
            </a:pPr>
            <a:r>
              <a:rPr lang="en-US" sz="1700" b="1" dirty="0">
                <a:solidFill>
                  <a:srgbClr val="0F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Hybrid retriever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6380480" y="2268221"/>
            <a:ext cx="4934153" cy="669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90"/>
              </a:lnSpc>
              <a:buNone/>
            </a:pPr>
            <a:r>
              <a:rPr lang="en-US" sz="1300" dirty="0">
                <a:solidFill>
                  <a:srgbClr val="5862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Runs vector and BM25 search for every rewrite and merges them with Reciprocal Rank Fusion. A confidence score decides Jira, code or fallback.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815975" y="3250567"/>
            <a:ext cx="5200650" cy="1602740"/>
          </a:xfrm>
          <a:prstGeom prst="roundRect">
            <a:avLst>
              <a:gd name="adj" fmla="val 6141"/>
            </a:avLst>
          </a:prstGeom>
          <a:solidFill>
            <a:srgbClr val="FFFFFF"/>
          </a:solidFill>
          <a:ln w="6350">
            <a:solidFill>
              <a:srgbClr val="DFE3E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21080" y="3430271"/>
            <a:ext cx="4934153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0E9F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3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021080" y="3707129"/>
            <a:ext cx="4934153" cy="284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40"/>
              </a:lnSpc>
              <a:buNone/>
            </a:pPr>
            <a:r>
              <a:rPr lang="en-US" sz="1700" b="1" dirty="0">
                <a:solidFill>
                  <a:srgbClr val="0F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Cross-checker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1021080" y="4029714"/>
            <a:ext cx="4934153" cy="669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90"/>
              </a:lnSpc>
              <a:buNone/>
            </a:pPr>
            <a:r>
              <a:rPr lang="en-US" sz="1300" dirty="0">
                <a:solidFill>
                  <a:srgbClr val="5862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Compares concrete facts in Jira and code, such as limits, roles and button names, and flags a mismatch with user-facing guidance.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175375" y="3250567"/>
            <a:ext cx="5200650" cy="1602740"/>
          </a:xfrm>
          <a:prstGeom prst="roundRect">
            <a:avLst>
              <a:gd name="adj" fmla="val 6141"/>
            </a:avLst>
          </a:prstGeom>
          <a:solidFill>
            <a:srgbClr val="FFFFFF"/>
          </a:solidFill>
          <a:ln w="6350">
            <a:solidFill>
              <a:srgbClr val="DFE3E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380480" y="3430271"/>
            <a:ext cx="4934153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0E9F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4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380480" y="3707129"/>
            <a:ext cx="4934153" cy="284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40"/>
              </a:lnSpc>
              <a:buNone/>
            </a:pPr>
            <a:r>
              <a:rPr lang="en-US" sz="1700" b="1" dirty="0">
                <a:solidFill>
                  <a:srgbClr val="0F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Answer composer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6380480" y="4029714"/>
            <a:ext cx="4934153" cy="669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90"/>
              </a:lnSpc>
              <a:buNone/>
            </a:pPr>
            <a:r>
              <a:rPr lang="en-US" sz="1300" dirty="0">
                <a:solidFill>
                  <a:srgbClr val="5862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Writes short numbered steps for non-technical users from retrieved context only. Adds the AYS ticket request when nothing is found.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812800" y="6238242"/>
            <a:ext cx="719455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862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ReleaseIQ · Corporate Hackathon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0058400" y="6238242"/>
            <a:ext cx="13208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862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5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800" y="812800"/>
            <a:ext cx="10883392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300"/>
              </a:lnSpc>
              <a:buNone/>
            </a:pPr>
            <a:r>
              <a:rPr lang="en-US" sz="3000" b="1" i="0" dirty="0">
                <a:solidFill>
                  <a:srgbClr val="0F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Components: knowledge base and ingestion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815975" y="1489075"/>
            <a:ext cx="5200650" cy="1602740"/>
          </a:xfrm>
          <a:prstGeom prst="roundRect">
            <a:avLst>
              <a:gd name="adj" fmla="val 6141"/>
            </a:avLst>
          </a:prstGeom>
          <a:solidFill>
            <a:srgbClr val="FFFFFF"/>
          </a:solidFill>
          <a:ln w="6350">
            <a:solidFill>
              <a:srgbClr val="DFE3E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21080" y="1668779"/>
            <a:ext cx="4934153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0E9F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OFFLINE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021080" y="1945642"/>
            <a:ext cx="4934153" cy="284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40"/>
              </a:lnSpc>
              <a:buNone/>
            </a:pPr>
            <a:r>
              <a:rPr lang="en-US" sz="1700" b="1" dirty="0">
                <a:solidFill>
                  <a:srgbClr val="0F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Parsers and chunkers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1021080" y="2268221"/>
            <a:ext cx="4934153" cy="669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90"/>
              </a:lnSpc>
              <a:buNone/>
            </a:pPr>
            <a:r>
              <a:rPr lang="en-US" sz="1300" dirty="0">
                <a:solidFill>
                  <a:srgbClr val="5862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Jira parser splits each ticket into sections. The code scanner chunks by function and class, adds a plain-English digest and redacts secrets.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175375" y="1489075"/>
            <a:ext cx="5200650" cy="1602740"/>
          </a:xfrm>
          <a:prstGeom prst="roundRect">
            <a:avLst>
              <a:gd name="adj" fmla="val 6141"/>
            </a:avLst>
          </a:prstGeom>
          <a:solidFill>
            <a:srgbClr val="FFFFFF"/>
          </a:solidFill>
          <a:ln w="6350">
            <a:solidFill>
              <a:srgbClr val="DFE3E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380480" y="1668779"/>
            <a:ext cx="4934153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0E9F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OFFLINE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380480" y="1945642"/>
            <a:ext cx="4934153" cy="284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40"/>
              </a:lnSpc>
              <a:buNone/>
            </a:pPr>
            <a:r>
              <a:rPr lang="en-US" sz="1700" b="1" dirty="0">
                <a:solidFill>
                  <a:srgbClr val="0F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Indexer and embeddings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6380480" y="2268221"/>
            <a:ext cx="4934153" cy="454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90"/>
              </a:lnSpc>
              <a:buNone/>
            </a:pPr>
            <a:r>
              <a:rPr lang="en-US" sz="1300" dirty="0">
                <a:solidFill>
                  <a:srgbClr val="5862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Embeds chunks locally with all-MiniLM-L6-v2 and writes both stores. A hash manifest skips Jira data that has not changed.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815975" y="3250567"/>
            <a:ext cx="5200650" cy="1388110"/>
          </a:xfrm>
          <a:prstGeom prst="roundRect">
            <a:avLst>
              <a:gd name="adj" fmla="val 7091"/>
            </a:avLst>
          </a:prstGeom>
          <a:solidFill>
            <a:srgbClr val="FFFFFF"/>
          </a:solidFill>
          <a:ln w="6350">
            <a:solidFill>
              <a:srgbClr val="DFE3E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21080" y="3430271"/>
            <a:ext cx="4934153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0E9F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LOCAL STORE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021080" y="3707129"/>
            <a:ext cx="4934153" cy="284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40"/>
              </a:lnSpc>
              <a:buNone/>
            </a:pPr>
            <a:r>
              <a:rPr lang="en-US" sz="1700" b="1" dirty="0">
                <a:solidFill>
                  <a:srgbClr val="0F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ChromaDB vector store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1021080" y="4029714"/>
            <a:ext cx="4934153" cy="454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90"/>
              </a:lnSpc>
              <a:buNone/>
            </a:pPr>
            <a:r>
              <a:rPr lang="en-US" sz="1300" dirty="0">
                <a:solidFill>
                  <a:srgbClr val="5862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collections, Jira tickets and code chunks, for semantic search by meaning.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175375" y="3250567"/>
            <a:ext cx="5200650" cy="1388110"/>
          </a:xfrm>
          <a:prstGeom prst="roundRect">
            <a:avLst>
              <a:gd name="adj" fmla="val 7091"/>
            </a:avLst>
          </a:prstGeom>
          <a:solidFill>
            <a:srgbClr val="FFFFFF"/>
          </a:solidFill>
          <a:ln w="6350">
            <a:solidFill>
              <a:srgbClr val="DFE3E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380480" y="3430271"/>
            <a:ext cx="4934153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0E9F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LOCAL STORE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380480" y="3707129"/>
            <a:ext cx="4934153" cy="284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40"/>
              </a:lnSpc>
              <a:buNone/>
            </a:pPr>
            <a:r>
              <a:rPr lang="en-US" sz="1700" b="1" dirty="0">
                <a:solidFill>
                  <a:srgbClr val="0F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BM25 lexical store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6380480" y="4029714"/>
            <a:ext cx="4934153" cy="454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90"/>
              </a:lnSpc>
              <a:buNone/>
            </a:pPr>
            <a:r>
              <a:rPr lang="en-US" sz="1300" dirty="0">
                <a:solidFill>
                  <a:srgbClr val="5862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Keyword index for exact matches such as error codes like UPL-413 and ticket keys.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812800" y="6238242"/>
            <a:ext cx="719455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862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ReleaseIQ · Corporate Hackathon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0058400" y="6238242"/>
            <a:ext cx="13208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862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5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800" y="812800"/>
            <a:ext cx="10883392" cy="43116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223"/>
              </a:lnSpc>
              <a:buNone/>
            </a:pPr>
            <a:r>
              <a:rPr lang="en-US" sz="2930" b="1" i="0" dirty="0">
                <a:solidFill>
                  <a:srgbClr val="0F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it works</a:t>
            </a:r>
            <a:endParaRPr lang="en-US" sz="2930" dirty="0"/>
          </a:p>
        </p:txBody>
      </p:sp>
      <p:sp>
        <p:nvSpPr>
          <p:cNvPr id="3" name="Shape 1"/>
          <p:cNvSpPr/>
          <p:nvPr/>
        </p:nvSpPr>
        <p:spPr>
          <a:xfrm>
            <a:off x="815975" y="1475742"/>
            <a:ext cx="10560050" cy="657543"/>
          </a:xfrm>
          <a:prstGeom prst="roundRect">
            <a:avLst>
              <a:gd name="adj" fmla="val 14969"/>
            </a:avLst>
          </a:prstGeom>
          <a:solidFill>
            <a:srgbClr val="FFFFFF"/>
          </a:solidFill>
          <a:ln w="6350">
            <a:solidFill>
              <a:srgbClr val="DFE3E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21080" y="1626710"/>
            <a:ext cx="4064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000" b="1" dirty="0">
                <a:solidFill>
                  <a:srgbClr val="0E9F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554480" y="1566707"/>
            <a:ext cx="6649236" cy="269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0F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Cache and security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554480" y="1835944"/>
            <a:ext cx="7746683" cy="2317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25"/>
              </a:lnSpc>
              <a:buNone/>
            </a:pPr>
            <a:r>
              <a:rPr lang="en-US" sz="1300" dirty="0">
                <a:solidFill>
                  <a:srgbClr val="5862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Prompt-injection screen, then a fuzzy cache (similarity 0.85+) for instant repeat answers.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815975" y="2241234"/>
            <a:ext cx="10560050" cy="657543"/>
          </a:xfrm>
          <a:prstGeom prst="roundRect">
            <a:avLst>
              <a:gd name="adj" fmla="val 14969"/>
            </a:avLst>
          </a:prstGeom>
          <a:solidFill>
            <a:srgbClr val="FFFFFF"/>
          </a:solidFill>
          <a:ln w="6350">
            <a:solidFill>
              <a:srgbClr val="DFE3E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21080" y="2392207"/>
            <a:ext cx="4064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000" b="1" dirty="0">
                <a:solidFill>
                  <a:srgbClr val="0E9F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554480" y="2332199"/>
            <a:ext cx="5378253" cy="269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0F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Query understanding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554480" y="2601435"/>
            <a:ext cx="6265926" cy="2317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25"/>
              </a:lnSpc>
              <a:buNone/>
            </a:pPr>
            <a:r>
              <a:rPr lang="en-US" sz="1300" dirty="0">
                <a:solidFill>
                  <a:srgbClr val="5862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Groq LLM classifies intent and rewrites the question into search strings.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815975" y="3006725"/>
            <a:ext cx="10560050" cy="657543"/>
          </a:xfrm>
          <a:prstGeom prst="roundRect">
            <a:avLst>
              <a:gd name="adj" fmla="val 14969"/>
            </a:avLst>
          </a:prstGeom>
          <a:solidFill>
            <a:srgbClr val="FFFFFF"/>
          </a:solidFill>
          <a:ln w="6350">
            <a:solidFill>
              <a:srgbClr val="DFE3E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21080" y="3157699"/>
            <a:ext cx="4064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000" b="1" dirty="0">
                <a:solidFill>
                  <a:srgbClr val="0E9F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1554480" y="3097690"/>
            <a:ext cx="5968370" cy="269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0F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Hybrid retrieval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554480" y="3366932"/>
            <a:ext cx="6953441" cy="2317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25"/>
              </a:lnSpc>
              <a:buNone/>
            </a:pPr>
            <a:r>
              <a:rPr lang="en-US" sz="1300" dirty="0">
                <a:solidFill>
                  <a:srgbClr val="5862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ChromaDB vectors + BM25 merged by RRF. Jira first, code if confidence is low.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815975" y="3772216"/>
            <a:ext cx="10560050" cy="657543"/>
          </a:xfrm>
          <a:prstGeom prst="roundRect">
            <a:avLst>
              <a:gd name="adj" fmla="val 14969"/>
            </a:avLst>
          </a:prstGeom>
          <a:solidFill>
            <a:srgbClr val="FFFFFF"/>
          </a:solidFill>
          <a:ln w="6350">
            <a:solidFill>
              <a:srgbClr val="DFE3E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21080" y="3923190"/>
            <a:ext cx="4064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000" b="1" dirty="0">
                <a:solidFill>
                  <a:srgbClr val="0E9F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1554480" y="3863181"/>
            <a:ext cx="4603122" cy="269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0F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Cross-checker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554480" y="4132424"/>
            <a:ext cx="5362861" cy="2317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25"/>
              </a:lnSpc>
              <a:buNone/>
            </a:pPr>
            <a:r>
              <a:rPr lang="en-US" sz="1300" dirty="0">
                <a:solidFill>
                  <a:srgbClr val="5862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 compares limits, roles and flags in Jira against the code.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815975" y="4537714"/>
            <a:ext cx="10560050" cy="657543"/>
          </a:xfrm>
          <a:prstGeom prst="roundRect">
            <a:avLst>
              <a:gd name="adj" fmla="val 14969"/>
            </a:avLst>
          </a:prstGeom>
          <a:solidFill>
            <a:srgbClr val="FFFFFF"/>
          </a:solidFill>
          <a:ln w="6350">
            <a:solidFill>
              <a:srgbClr val="DFE3E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021080" y="4688681"/>
            <a:ext cx="4064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000" b="1" dirty="0">
                <a:solidFill>
                  <a:srgbClr val="0E9F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1554480" y="4628673"/>
            <a:ext cx="4971843" cy="269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0F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Answer composer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554480" y="4897915"/>
            <a:ext cx="5792439" cy="2317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25"/>
              </a:lnSpc>
              <a:buNone/>
            </a:pPr>
            <a:r>
              <a:rPr lang="en-US" sz="1300" dirty="0">
                <a:solidFill>
                  <a:srgbClr val="5862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Plain-English steps, sources, mismatch warning and support note.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812800" y="5452430"/>
            <a:ext cx="11379200" cy="4149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79"/>
              </a:lnSpc>
              <a:buNone/>
            </a:pPr>
            <a:r>
              <a:rPr lang="en-US" sz="1215" b="1" dirty="0">
                <a:solidFill>
                  <a:srgbClr val="0F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Offline:</a:t>
            </a:r>
            <a:r>
              <a:rPr lang="en-US" sz="1215" dirty="0">
                <a:solidFill>
                  <a:srgbClr val="5862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the indexer parses Jira and code, chunks them, embeds with all-MiniLM-L6-v2 and builds the BM25 index. A hash manifest skips unchanged data.</a:t>
            </a:r>
            <a:endParaRPr lang="en-US" sz="1215" dirty="0"/>
          </a:p>
        </p:txBody>
      </p:sp>
      <p:sp>
        <p:nvSpPr>
          <p:cNvPr id="24" name="Text 22"/>
          <p:cNvSpPr/>
          <p:nvPr/>
        </p:nvSpPr>
        <p:spPr>
          <a:xfrm>
            <a:off x="10058400" y="6238242"/>
            <a:ext cx="13208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862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5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800" y="812800"/>
            <a:ext cx="10883392" cy="472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0F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Technologies used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815975" y="1517017"/>
            <a:ext cx="3414157" cy="1159510"/>
          </a:xfrm>
          <a:prstGeom prst="roundRect">
            <a:avLst>
              <a:gd name="adj" fmla="val 8488"/>
            </a:avLst>
          </a:prstGeom>
          <a:solidFill>
            <a:srgbClr val="FFFFFF"/>
          </a:solidFill>
          <a:ln w="6350">
            <a:solidFill>
              <a:srgbClr val="DFE3E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21080" y="1722121"/>
            <a:ext cx="3094065" cy="269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0F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Backend and API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021080" y="2042164"/>
            <a:ext cx="3205877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90"/>
              </a:lnSpc>
              <a:buNone/>
            </a:pPr>
            <a:r>
              <a:rPr lang="en-US" sz="1300" dirty="0">
                <a:solidFill>
                  <a:srgbClr val="5862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 3.11, FastAPI, Uvicorn, Pydantic.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388882" y="1517017"/>
            <a:ext cx="3414157" cy="1159510"/>
          </a:xfrm>
          <a:prstGeom prst="roundRect">
            <a:avLst>
              <a:gd name="adj" fmla="val 8488"/>
            </a:avLst>
          </a:prstGeom>
          <a:solidFill>
            <a:srgbClr val="FFFFFF"/>
          </a:solidFill>
          <a:ln w="6350">
            <a:solidFill>
              <a:srgbClr val="DFE3E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93987" y="1722121"/>
            <a:ext cx="3094065" cy="269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0F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 layer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593987" y="2042164"/>
            <a:ext cx="3094065" cy="454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90"/>
              </a:lnSpc>
              <a:buNone/>
            </a:pPr>
            <a:r>
              <a:rPr lang="en-US" sz="1300" dirty="0">
                <a:solidFill>
                  <a:srgbClr val="5862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Groq (gpt-oss-120b) by default. Gemini and OpenAI are pluggable.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7961789" y="1517017"/>
            <a:ext cx="3414157" cy="1159510"/>
          </a:xfrm>
          <a:prstGeom prst="roundRect">
            <a:avLst>
              <a:gd name="adj" fmla="val 8488"/>
            </a:avLst>
          </a:prstGeom>
          <a:solidFill>
            <a:srgbClr val="FFFFFF"/>
          </a:solidFill>
          <a:ln w="6350">
            <a:solidFill>
              <a:srgbClr val="DFE3E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166894" y="1722121"/>
            <a:ext cx="3094065" cy="269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0F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Retrieval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8166894" y="2042164"/>
            <a:ext cx="3094065" cy="454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90"/>
              </a:lnSpc>
              <a:buNone/>
            </a:pPr>
            <a:r>
              <a:rPr lang="en-US" sz="1300" dirty="0">
                <a:solidFill>
                  <a:srgbClr val="5862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ChromaDB, rank-bm25, Reciprocal Rank Fusion.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815975" y="2835275"/>
            <a:ext cx="3414157" cy="1159510"/>
          </a:xfrm>
          <a:prstGeom prst="roundRect">
            <a:avLst>
              <a:gd name="adj" fmla="val 8488"/>
            </a:avLst>
          </a:prstGeom>
          <a:solidFill>
            <a:srgbClr val="FFFFFF"/>
          </a:solidFill>
          <a:ln w="6350">
            <a:solidFill>
              <a:srgbClr val="DFE3E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21080" y="3040379"/>
            <a:ext cx="3094065" cy="269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0F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Embeddings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021080" y="3360421"/>
            <a:ext cx="3094065" cy="454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90"/>
              </a:lnSpc>
              <a:buNone/>
            </a:pPr>
            <a:r>
              <a:rPr lang="en-US" sz="1300" dirty="0">
                <a:solidFill>
                  <a:srgbClr val="5862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SentenceTransformers all-MiniLM-L6-v2, runs locally with no API key.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388882" y="2835275"/>
            <a:ext cx="3414157" cy="1159510"/>
          </a:xfrm>
          <a:prstGeom prst="roundRect">
            <a:avLst>
              <a:gd name="adj" fmla="val 8488"/>
            </a:avLst>
          </a:prstGeom>
          <a:solidFill>
            <a:srgbClr val="FFFFFF"/>
          </a:solidFill>
          <a:ln w="6350">
            <a:solidFill>
              <a:srgbClr val="DFE3E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93987" y="3040379"/>
            <a:ext cx="3094065" cy="269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0F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Frontend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4593987" y="3360421"/>
            <a:ext cx="3094065" cy="454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90"/>
              </a:lnSpc>
              <a:buNone/>
            </a:pPr>
            <a:r>
              <a:rPr lang="en-US" sz="1300" dirty="0">
                <a:solidFill>
                  <a:srgbClr val="5862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Streamlit chat UI with sources, route and mismatch alerts.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7961789" y="2835275"/>
            <a:ext cx="3414157" cy="1159510"/>
          </a:xfrm>
          <a:prstGeom prst="roundRect">
            <a:avLst>
              <a:gd name="adj" fmla="val 8488"/>
            </a:avLst>
          </a:prstGeom>
          <a:solidFill>
            <a:srgbClr val="FFFFFF"/>
          </a:solidFill>
          <a:ln w="6350">
            <a:solidFill>
              <a:srgbClr val="DFE3E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166894" y="3040379"/>
            <a:ext cx="3094065" cy="269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0F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Quality and ops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8166894" y="3360421"/>
            <a:ext cx="3094065" cy="454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90"/>
              </a:lnSpc>
              <a:buNone/>
            </a:pPr>
            <a:r>
              <a:rPr lang="en-US" sz="1300" dirty="0">
                <a:solidFill>
                  <a:srgbClr val="5862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Docker Compose, pytest and an eval suite for route accuracy.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0058400" y="6238242"/>
            <a:ext cx="13208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862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5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800" y="812800"/>
            <a:ext cx="10883392" cy="472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0F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Strengths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815975" y="1517017"/>
            <a:ext cx="3414157" cy="1159510"/>
          </a:xfrm>
          <a:prstGeom prst="roundRect">
            <a:avLst>
              <a:gd name="adj" fmla="val 8488"/>
            </a:avLst>
          </a:prstGeom>
          <a:solidFill>
            <a:srgbClr val="FFFFFF"/>
          </a:solidFill>
          <a:ln w="6350">
            <a:solidFill>
              <a:srgbClr val="DFE3E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21080" y="1722127"/>
            <a:ext cx="3094065" cy="269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0F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Catches doc-vs-code drift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021080" y="2042158"/>
            <a:ext cx="3094065" cy="454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90"/>
              </a:lnSpc>
              <a:buNone/>
            </a:pPr>
            <a:r>
              <a:rPr lang="en-US" sz="1300" dirty="0">
                <a:solidFill>
                  <a:srgbClr val="5862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Surfaces contradictions that plain RAG chatbots hide.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388882" y="1517017"/>
            <a:ext cx="3414157" cy="1159510"/>
          </a:xfrm>
          <a:prstGeom prst="roundRect">
            <a:avLst>
              <a:gd name="adj" fmla="val 8488"/>
            </a:avLst>
          </a:prstGeom>
          <a:solidFill>
            <a:srgbClr val="FFFFFF"/>
          </a:solidFill>
          <a:ln w="6350">
            <a:solidFill>
              <a:srgbClr val="DFE3E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93987" y="1722127"/>
            <a:ext cx="3094065" cy="269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0F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Grounded and cited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593987" y="2042158"/>
            <a:ext cx="3094065" cy="454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90"/>
              </a:lnSpc>
              <a:buNone/>
            </a:pPr>
            <a:r>
              <a:rPr lang="en-US" sz="1300" dirty="0">
                <a:solidFill>
                  <a:srgbClr val="5862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Answers come only from retrieved context, with sources.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7961789" y="1517017"/>
            <a:ext cx="3414157" cy="1159510"/>
          </a:xfrm>
          <a:prstGeom prst="roundRect">
            <a:avLst>
              <a:gd name="adj" fmla="val 8488"/>
            </a:avLst>
          </a:prstGeom>
          <a:solidFill>
            <a:srgbClr val="FFFFFF"/>
          </a:solidFill>
          <a:ln w="6350">
            <a:solidFill>
              <a:srgbClr val="DFE3E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166894" y="1722127"/>
            <a:ext cx="3094065" cy="269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0F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Honest fallback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8166894" y="2042158"/>
            <a:ext cx="3094065" cy="454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90"/>
              </a:lnSpc>
              <a:buNone/>
            </a:pPr>
            <a:r>
              <a:rPr lang="en-US" sz="1300" dirty="0">
                <a:solidFill>
                  <a:srgbClr val="5862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Says “not found” and asks the user to raise an AYS ticket.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815975" y="2835275"/>
            <a:ext cx="3414157" cy="1159510"/>
          </a:xfrm>
          <a:prstGeom prst="roundRect">
            <a:avLst>
              <a:gd name="adj" fmla="val 8488"/>
            </a:avLst>
          </a:prstGeom>
          <a:solidFill>
            <a:srgbClr val="FFFFFF"/>
          </a:solidFill>
          <a:ln w="6350">
            <a:solidFill>
              <a:srgbClr val="DFE3E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21080" y="3040385"/>
            <a:ext cx="3094065" cy="269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0F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 for non-technical users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021080" y="3360427"/>
            <a:ext cx="3094065" cy="454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90"/>
              </a:lnSpc>
              <a:buNone/>
            </a:pPr>
            <a:r>
              <a:rPr lang="en-US" sz="1300" dirty="0">
                <a:solidFill>
                  <a:srgbClr val="5862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Numbered steps, bold UI labels, no code in answers.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388882" y="2835275"/>
            <a:ext cx="3414157" cy="1159510"/>
          </a:xfrm>
          <a:prstGeom prst="roundRect">
            <a:avLst>
              <a:gd name="adj" fmla="val 8488"/>
            </a:avLst>
          </a:prstGeom>
          <a:solidFill>
            <a:srgbClr val="FFFFFF"/>
          </a:solidFill>
          <a:ln w="6350">
            <a:solidFill>
              <a:srgbClr val="DFE3E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93987" y="3040385"/>
            <a:ext cx="3094065" cy="269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0F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Safe by design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4593987" y="3360427"/>
            <a:ext cx="3094065" cy="454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90"/>
              </a:lnSpc>
              <a:buNone/>
            </a:pPr>
            <a:r>
              <a:rPr lang="en-US" sz="1300" dirty="0">
                <a:solidFill>
                  <a:srgbClr val="5862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Injection screening, secret redaction, read-only guide.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7961789" y="2835275"/>
            <a:ext cx="3414157" cy="1159510"/>
          </a:xfrm>
          <a:prstGeom prst="roundRect">
            <a:avLst>
              <a:gd name="adj" fmla="val 8488"/>
            </a:avLst>
          </a:prstGeom>
          <a:solidFill>
            <a:srgbClr val="FFFFFF"/>
          </a:solidFill>
          <a:ln w="6350">
            <a:solidFill>
              <a:srgbClr val="DFE3E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166894" y="3040385"/>
            <a:ext cx="3094065" cy="269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0F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 cost, vendor-neutral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8166894" y="3360427"/>
            <a:ext cx="3094065" cy="454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90"/>
              </a:lnSpc>
              <a:buNone/>
            </a:pPr>
            <a:r>
              <a:rPr lang="en-US" sz="1300" dirty="0">
                <a:solidFill>
                  <a:srgbClr val="5862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Local embeddings and swappable LLM providers.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0058400" y="6238242"/>
            <a:ext cx="13208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862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5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800" y="812800"/>
            <a:ext cx="10883392" cy="472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0F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Future enhancements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815975" y="1517017"/>
            <a:ext cx="3414157" cy="1159510"/>
          </a:xfrm>
          <a:prstGeom prst="roundRect">
            <a:avLst>
              <a:gd name="adj" fmla="val 8488"/>
            </a:avLst>
          </a:prstGeom>
          <a:solidFill>
            <a:srgbClr val="FFFFFF"/>
          </a:solidFill>
          <a:ln w="6350">
            <a:solidFill>
              <a:srgbClr val="DFE3E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21080" y="1722127"/>
            <a:ext cx="3094065" cy="269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0F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git integration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021080" y="2042158"/>
            <a:ext cx="3094065" cy="454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90"/>
              </a:lnSpc>
              <a:buNone/>
            </a:pPr>
            <a:r>
              <a:rPr lang="en-US" sz="1300" dirty="0">
                <a:solidFill>
                  <a:srgbClr val="5862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 git blame, commits and PRs instead of simulated history.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388882" y="1517017"/>
            <a:ext cx="3414157" cy="1159510"/>
          </a:xfrm>
          <a:prstGeom prst="roundRect">
            <a:avLst>
              <a:gd name="adj" fmla="val 8488"/>
            </a:avLst>
          </a:prstGeom>
          <a:solidFill>
            <a:srgbClr val="FFFFFF"/>
          </a:solidFill>
          <a:ln w="6350">
            <a:solidFill>
              <a:srgbClr val="DFE3E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93987" y="1722127"/>
            <a:ext cx="3094065" cy="269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0F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More sources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593987" y="2042158"/>
            <a:ext cx="3094065" cy="454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90"/>
              </a:lnSpc>
              <a:buNone/>
            </a:pPr>
            <a:r>
              <a:rPr lang="en-US" sz="1300" dirty="0">
                <a:solidFill>
                  <a:srgbClr val="5862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Confluence, Slack, release notes and support tickets.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7961789" y="1517017"/>
            <a:ext cx="3414157" cy="1159510"/>
          </a:xfrm>
          <a:prstGeom prst="roundRect">
            <a:avLst>
              <a:gd name="adj" fmla="val 8488"/>
            </a:avLst>
          </a:prstGeom>
          <a:solidFill>
            <a:srgbClr val="FFFFFF"/>
          </a:solidFill>
          <a:ln w="6350">
            <a:solidFill>
              <a:srgbClr val="DFE3E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166894" y="1722127"/>
            <a:ext cx="3094065" cy="269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0F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Smarter retrieval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8166894" y="2042158"/>
            <a:ext cx="3094065" cy="454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90"/>
              </a:lnSpc>
              <a:buNone/>
            </a:pPr>
            <a:r>
              <a:rPr lang="en-US" sz="1300" dirty="0">
                <a:solidFill>
                  <a:srgbClr val="5862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Cross-encoder reranker, calibrated confidence, semantic cache.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815975" y="2835275"/>
            <a:ext cx="3414157" cy="1159510"/>
          </a:xfrm>
          <a:prstGeom prst="roundRect">
            <a:avLst>
              <a:gd name="adj" fmla="val 8488"/>
            </a:avLst>
          </a:prstGeom>
          <a:solidFill>
            <a:srgbClr val="FFFFFF"/>
          </a:solidFill>
          <a:ln w="6350">
            <a:solidFill>
              <a:srgbClr val="DFE3E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21080" y="3040385"/>
            <a:ext cx="3094065" cy="269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0F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Enterprise ready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021080" y="3360427"/>
            <a:ext cx="3094065" cy="454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90"/>
              </a:lnSpc>
              <a:buNone/>
            </a:pPr>
            <a:r>
              <a:rPr lang="en-US" sz="1300" dirty="0">
                <a:solidFill>
                  <a:srgbClr val="5862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SSO, role-based access, multi-tenant data and audit logs.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388882" y="2835275"/>
            <a:ext cx="3414157" cy="1159510"/>
          </a:xfrm>
          <a:prstGeom prst="roundRect">
            <a:avLst>
              <a:gd name="adj" fmla="val 8488"/>
            </a:avLst>
          </a:prstGeom>
          <a:solidFill>
            <a:srgbClr val="FFFFFF"/>
          </a:solidFill>
          <a:ln w="6350">
            <a:solidFill>
              <a:srgbClr val="DFE3E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93987" y="3040385"/>
            <a:ext cx="3094065" cy="269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0F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Feedback loop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4593987" y="3360427"/>
            <a:ext cx="3094065" cy="454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90"/>
              </a:lnSpc>
              <a:buNone/>
            </a:pPr>
            <a:r>
              <a:rPr lang="en-US" sz="1300" dirty="0">
                <a:solidFill>
                  <a:srgbClr val="5862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thumbs up/down to grow the eval set and tune thresholds.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7961789" y="2835275"/>
            <a:ext cx="3414157" cy="1159510"/>
          </a:xfrm>
          <a:prstGeom prst="roundRect">
            <a:avLst>
              <a:gd name="adj" fmla="val 8488"/>
            </a:avLst>
          </a:prstGeom>
          <a:solidFill>
            <a:srgbClr val="FFFFFF"/>
          </a:solidFill>
          <a:ln w="6350">
            <a:solidFill>
              <a:srgbClr val="DFE3E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166894" y="3040385"/>
            <a:ext cx="3094065" cy="269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0F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Proactive intelligence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8166894" y="3360427"/>
            <a:ext cx="3094065" cy="454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90"/>
              </a:lnSpc>
              <a:buNone/>
            </a:pPr>
            <a:r>
              <a:rPr lang="en-US" sz="1300" dirty="0">
                <a:solidFill>
                  <a:srgbClr val="5862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Drift alerts in CI and auto-drafted release notes.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0058400" y="6238242"/>
            <a:ext cx="13208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862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ReleaseIQ – Hackathon Presentation">
  <a:themeElements>
    <a:clrScheme name="ReleaseIQ – Hackathon Presentation">
      <a:dk1>
        <a:srgbClr val="0F2A4A"/>
      </a:dk1>
      <a:lt1>
        <a:srgbClr val="F5F6F2"/>
      </a:lt1>
      <a:dk2>
        <a:srgbClr val="495D74"/>
      </a:dk2>
      <a:lt2>
        <a:srgbClr val="DEE2E1"/>
      </a:lt2>
      <a:accent1>
        <a:srgbClr val="0E9F8E"/>
      </a:accent1>
      <a:accent2>
        <a:srgbClr val="F2A33A"/>
      </a:accent2>
      <a:accent3>
        <a:srgbClr val="9FB3CC"/>
      </a:accent3>
      <a:accent4>
        <a:srgbClr val="B8741A"/>
      </a:accent4>
      <a:accent5>
        <a:srgbClr val="586274"/>
      </a:accent5>
      <a:accent6>
        <a:srgbClr val="16202E"/>
      </a:accent6>
      <a:hlink>
        <a:srgbClr val="0563C1"/>
      </a:hlink>
      <a:folHlink>
        <a:srgbClr val="954F72"/>
      </a:folHlink>
    </a:clrScheme>
    <a:fontScheme name="ReleaseIQ – Hackathon Presentation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ReleaseIQ – Hackathon Presentation</dc:title>
  <dc:subject/>
  <dc:creator/>
  <cp:lastModifiedBy/>
  <cp:revision>1</cp:revision>
  <dcterms:created xsi:type="dcterms:W3CDTF">2026-10-09T13:10:11Z</dcterms:created>
  <dcterms:modified xsi:type="dcterms:W3CDTF">2026-10-09T13:10:11Z</dcterms:modified>
</cp:coreProperties>
</file>